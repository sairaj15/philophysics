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0" r:id="rId4"/>
    <p:sldId id="261" r:id="rId5"/>
    <p:sldId id="262" r:id="rId6"/>
    <p:sldId id="263" r:id="rId7"/>
    <p:sldId id="264" r:id="rId8"/>
    <p:sldId id="265" r:id="rId9"/>
    <p:sldId id="266" r:id="rId10"/>
    <p:sldId id="267"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4B237-4E24-46B1-B92E-320D0EFBB8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35EF6B8-C2DB-47A4-AC3D-BB09B8E9E7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52AF76D-FAC0-4DBC-B75C-C3971269387A}"/>
              </a:ext>
            </a:extLst>
          </p:cNvPr>
          <p:cNvSpPr>
            <a:spLocks noGrp="1"/>
          </p:cNvSpPr>
          <p:nvPr>
            <p:ph type="dt" sz="half" idx="10"/>
          </p:nvPr>
        </p:nvSpPr>
        <p:spPr/>
        <p:txBody>
          <a:bodyPr/>
          <a:lstStyle/>
          <a:p>
            <a:fld id="{3EB16E45-282A-433F-9720-A9BCCFF21346}" type="datetimeFigureOut">
              <a:rPr lang="en-IN" smtClean="0"/>
              <a:t>10-02-2021</a:t>
            </a:fld>
            <a:endParaRPr lang="en-IN"/>
          </a:p>
        </p:txBody>
      </p:sp>
      <p:sp>
        <p:nvSpPr>
          <p:cNvPr id="5" name="Footer Placeholder 4">
            <a:extLst>
              <a:ext uri="{FF2B5EF4-FFF2-40B4-BE49-F238E27FC236}">
                <a16:creationId xmlns:a16="http://schemas.microsoft.com/office/drawing/2014/main" id="{879CD9EE-2E60-4B96-859C-0A2E353379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603754-4D1D-4742-9741-3EF787DC3422}"/>
              </a:ext>
            </a:extLst>
          </p:cNvPr>
          <p:cNvSpPr>
            <a:spLocks noGrp="1"/>
          </p:cNvSpPr>
          <p:nvPr>
            <p:ph type="sldNum" sz="quarter" idx="12"/>
          </p:nvPr>
        </p:nvSpPr>
        <p:spPr/>
        <p:txBody>
          <a:bodyPr/>
          <a:lstStyle/>
          <a:p>
            <a:fld id="{F900B74C-2DB8-426B-9032-F2156DFC5290}" type="slidenum">
              <a:rPr lang="en-IN" smtClean="0"/>
              <a:t>‹#›</a:t>
            </a:fld>
            <a:endParaRPr lang="en-IN"/>
          </a:p>
        </p:txBody>
      </p:sp>
    </p:spTree>
    <p:extLst>
      <p:ext uri="{BB962C8B-B14F-4D97-AF65-F5344CB8AC3E}">
        <p14:creationId xmlns:p14="http://schemas.microsoft.com/office/powerpoint/2010/main" val="668912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E2BDD-8E1C-4E37-8804-A93D255667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0B130F9-59AA-4830-96F0-A05A8D59EA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EACAF8-9EDE-42C6-BE95-49A4F4081FC2}"/>
              </a:ext>
            </a:extLst>
          </p:cNvPr>
          <p:cNvSpPr>
            <a:spLocks noGrp="1"/>
          </p:cNvSpPr>
          <p:nvPr>
            <p:ph type="dt" sz="half" idx="10"/>
          </p:nvPr>
        </p:nvSpPr>
        <p:spPr/>
        <p:txBody>
          <a:bodyPr/>
          <a:lstStyle/>
          <a:p>
            <a:fld id="{3EB16E45-282A-433F-9720-A9BCCFF21346}" type="datetimeFigureOut">
              <a:rPr lang="en-IN" smtClean="0"/>
              <a:t>10-02-2021</a:t>
            </a:fld>
            <a:endParaRPr lang="en-IN"/>
          </a:p>
        </p:txBody>
      </p:sp>
      <p:sp>
        <p:nvSpPr>
          <p:cNvPr id="5" name="Footer Placeholder 4">
            <a:extLst>
              <a:ext uri="{FF2B5EF4-FFF2-40B4-BE49-F238E27FC236}">
                <a16:creationId xmlns:a16="http://schemas.microsoft.com/office/drawing/2014/main" id="{18E524AA-89E5-46FB-A71E-F19A54330B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2FB66B-E945-4411-8E56-6CD5F74287A9}"/>
              </a:ext>
            </a:extLst>
          </p:cNvPr>
          <p:cNvSpPr>
            <a:spLocks noGrp="1"/>
          </p:cNvSpPr>
          <p:nvPr>
            <p:ph type="sldNum" sz="quarter" idx="12"/>
          </p:nvPr>
        </p:nvSpPr>
        <p:spPr/>
        <p:txBody>
          <a:bodyPr/>
          <a:lstStyle/>
          <a:p>
            <a:fld id="{F900B74C-2DB8-426B-9032-F2156DFC5290}" type="slidenum">
              <a:rPr lang="en-IN" smtClean="0"/>
              <a:t>‹#›</a:t>
            </a:fld>
            <a:endParaRPr lang="en-IN"/>
          </a:p>
        </p:txBody>
      </p:sp>
    </p:spTree>
    <p:extLst>
      <p:ext uri="{BB962C8B-B14F-4D97-AF65-F5344CB8AC3E}">
        <p14:creationId xmlns:p14="http://schemas.microsoft.com/office/powerpoint/2010/main" val="2066898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05C35-AE85-4788-A789-EB4204A3F2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16C537A-7805-42A5-8CDD-72BA6AF056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0A04D9-61E6-4DB7-8DBA-E92C1719BD41}"/>
              </a:ext>
            </a:extLst>
          </p:cNvPr>
          <p:cNvSpPr>
            <a:spLocks noGrp="1"/>
          </p:cNvSpPr>
          <p:nvPr>
            <p:ph type="dt" sz="half" idx="10"/>
          </p:nvPr>
        </p:nvSpPr>
        <p:spPr/>
        <p:txBody>
          <a:bodyPr/>
          <a:lstStyle/>
          <a:p>
            <a:fld id="{3EB16E45-282A-433F-9720-A9BCCFF21346}" type="datetimeFigureOut">
              <a:rPr lang="en-IN" smtClean="0"/>
              <a:t>10-02-2021</a:t>
            </a:fld>
            <a:endParaRPr lang="en-IN"/>
          </a:p>
        </p:txBody>
      </p:sp>
      <p:sp>
        <p:nvSpPr>
          <p:cNvPr id="5" name="Footer Placeholder 4">
            <a:extLst>
              <a:ext uri="{FF2B5EF4-FFF2-40B4-BE49-F238E27FC236}">
                <a16:creationId xmlns:a16="http://schemas.microsoft.com/office/drawing/2014/main" id="{4EAB5253-4960-40A4-8716-B5E9BEBBDB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0E34A5-624B-4ED9-9FA7-B4D400D3870B}"/>
              </a:ext>
            </a:extLst>
          </p:cNvPr>
          <p:cNvSpPr>
            <a:spLocks noGrp="1"/>
          </p:cNvSpPr>
          <p:nvPr>
            <p:ph type="sldNum" sz="quarter" idx="12"/>
          </p:nvPr>
        </p:nvSpPr>
        <p:spPr/>
        <p:txBody>
          <a:bodyPr/>
          <a:lstStyle/>
          <a:p>
            <a:fld id="{F900B74C-2DB8-426B-9032-F2156DFC5290}" type="slidenum">
              <a:rPr lang="en-IN" smtClean="0"/>
              <a:t>‹#›</a:t>
            </a:fld>
            <a:endParaRPr lang="en-IN"/>
          </a:p>
        </p:txBody>
      </p:sp>
    </p:spTree>
    <p:extLst>
      <p:ext uri="{BB962C8B-B14F-4D97-AF65-F5344CB8AC3E}">
        <p14:creationId xmlns:p14="http://schemas.microsoft.com/office/powerpoint/2010/main" val="2720609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3F4CC-9B8D-4BFF-B056-7DBB8E8E446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F34CCA4-E984-4842-A6AA-93A07C0CF8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9913F7C-514C-4C39-91F7-3437C12698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601FBF2-1ECA-4856-81AE-5FB3BC2ADC22}"/>
              </a:ext>
            </a:extLst>
          </p:cNvPr>
          <p:cNvSpPr>
            <a:spLocks noGrp="1"/>
          </p:cNvSpPr>
          <p:nvPr>
            <p:ph type="dt" sz="half" idx="10"/>
          </p:nvPr>
        </p:nvSpPr>
        <p:spPr/>
        <p:txBody>
          <a:bodyPr/>
          <a:lstStyle/>
          <a:p>
            <a:fld id="{3EB16E45-282A-433F-9720-A9BCCFF21346}" type="datetimeFigureOut">
              <a:rPr lang="en-IN" smtClean="0"/>
              <a:t>10-02-2021</a:t>
            </a:fld>
            <a:endParaRPr lang="en-IN"/>
          </a:p>
        </p:txBody>
      </p:sp>
      <p:sp>
        <p:nvSpPr>
          <p:cNvPr id="6" name="Footer Placeholder 5">
            <a:extLst>
              <a:ext uri="{FF2B5EF4-FFF2-40B4-BE49-F238E27FC236}">
                <a16:creationId xmlns:a16="http://schemas.microsoft.com/office/drawing/2014/main" id="{BE425D3F-87CA-4994-A2CA-DF48DFFDDB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58D41E-C272-477D-A0AD-97DB81331330}"/>
              </a:ext>
            </a:extLst>
          </p:cNvPr>
          <p:cNvSpPr>
            <a:spLocks noGrp="1"/>
          </p:cNvSpPr>
          <p:nvPr>
            <p:ph type="sldNum" sz="quarter" idx="12"/>
          </p:nvPr>
        </p:nvSpPr>
        <p:spPr/>
        <p:txBody>
          <a:bodyPr/>
          <a:lstStyle/>
          <a:p>
            <a:fld id="{F900B74C-2DB8-426B-9032-F2156DFC5290}" type="slidenum">
              <a:rPr lang="en-IN" smtClean="0"/>
              <a:t>‹#›</a:t>
            </a:fld>
            <a:endParaRPr lang="en-IN"/>
          </a:p>
        </p:txBody>
      </p:sp>
    </p:spTree>
    <p:extLst>
      <p:ext uri="{BB962C8B-B14F-4D97-AF65-F5344CB8AC3E}">
        <p14:creationId xmlns:p14="http://schemas.microsoft.com/office/powerpoint/2010/main" val="1166045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71CB9-0E3A-4E04-8E10-0B8C42001C3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C7B952E-4749-495D-8F95-2F1576EE94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340832-8921-48B1-A3CA-009D104A13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A792109-F718-4379-86AA-0CBBFB8966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577886-1B72-44DA-A412-A149E40FA6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70745DC-BFCA-4935-8C77-4DF961768780}"/>
              </a:ext>
            </a:extLst>
          </p:cNvPr>
          <p:cNvSpPr>
            <a:spLocks noGrp="1"/>
          </p:cNvSpPr>
          <p:nvPr>
            <p:ph type="dt" sz="half" idx="10"/>
          </p:nvPr>
        </p:nvSpPr>
        <p:spPr/>
        <p:txBody>
          <a:bodyPr/>
          <a:lstStyle/>
          <a:p>
            <a:fld id="{3EB16E45-282A-433F-9720-A9BCCFF21346}" type="datetimeFigureOut">
              <a:rPr lang="en-IN" smtClean="0"/>
              <a:t>10-02-2021</a:t>
            </a:fld>
            <a:endParaRPr lang="en-IN"/>
          </a:p>
        </p:txBody>
      </p:sp>
      <p:sp>
        <p:nvSpPr>
          <p:cNvPr id="8" name="Footer Placeholder 7">
            <a:extLst>
              <a:ext uri="{FF2B5EF4-FFF2-40B4-BE49-F238E27FC236}">
                <a16:creationId xmlns:a16="http://schemas.microsoft.com/office/drawing/2014/main" id="{28D8BAD0-958C-493C-8F14-A2936072974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F1A2E21-CC0F-48D8-99CF-28AF9DDAC9E7}"/>
              </a:ext>
            </a:extLst>
          </p:cNvPr>
          <p:cNvSpPr>
            <a:spLocks noGrp="1"/>
          </p:cNvSpPr>
          <p:nvPr>
            <p:ph type="sldNum" sz="quarter" idx="12"/>
          </p:nvPr>
        </p:nvSpPr>
        <p:spPr/>
        <p:txBody>
          <a:bodyPr/>
          <a:lstStyle/>
          <a:p>
            <a:fld id="{F900B74C-2DB8-426B-9032-F2156DFC5290}" type="slidenum">
              <a:rPr lang="en-IN" smtClean="0"/>
              <a:t>‹#›</a:t>
            </a:fld>
            <a:endParaRPr lang="en-IN"/>
          </a:p>
        </p:txBody>
      </p:sp>
    </p:spTree>
    <p:extLst>
      <p:ext uri="{BB962C8B-B14F-4D97-AF65-F5344CB8AC3E}">
        <p14:creationId xmlns:p14="http://schemas.microsoft.com/office/powerpoint/2010/main" val="1917726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0A5A1-1BC7-40B4-B352-D7634DD9E6A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CE28F03-2327-49CD-81C7-C0AE908EAE54}"/>
              </a:ext>
            </a:extLst>
          </p:cNvPr>
          <p:cNvSpPr>
            <a:spLocks noGrp="1"/>
          </p:cNvSpPr>
          <p:nvPr>
            <p:ph type="dt" sz="half" idx="10"/>
          </p:nvPr>
        </p:nvSpPr>
        <p:spPr/>
        <p:txBody>
          <a:bodyPr/>
          <a:lstStyle/>
          <a:p>
            <a:fld id="{3EB16E45-282A-433F-9720-A9BCCFF21346}" type="datetimeFigureOut">
              <a:rPr lang="en-IN" smtClean="0"/>
              <a:t>10-02-2021</a:t>
            </a:fld>
            <a:endParaRPr lang="en-IN"/>
          </a:p>
        </p:txBody>
      </p:sp>
      <p:sp>
        <p:nvSpPr>
          <p:cNvPr id="4" name="Footer Placeholder 3">
            <a:extLst>
              <a:ext uri="{FF2B5EF4-FFF2-40B4-BE49-F238E27FC236}">
                <a16:creationId xmlns:a16="http://schemas.microsoft.com/office/drawing/2014/main" id="{2CC58970-1144-46D0-B0E6-6ED2750D21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83725A5-B7A7-4BF9-AC0D-EBD2C7A2A563}"/>
              </a:ext>
            </a:extLst>
          </p:cNvPr>
          <p:cNvSpPr>
            <a:spLocks noGrp="1"/>
          </p:cNvSpPr>
          <p:nvPr>
            <p:ph type="sldNum" sz="quarter" idx="12"/>
          </p:nvPr>
        </p:nvSpPr>
        <p:spPr/>
        <p:txBody>
          <a:bodyPr/>
          <a:lstStyle/>
          <a:p>
            <a:fld id="{F900B74C-2DB8-426B-9032-F2156DFC5290}" type="slidenum">
              <a:rPr lang="en-IN" smtClean="0"/>
              <a:t>‹#›</a:t>
            </a:fld>
            <a:endParaRPr lang="en-IN"/>
          </a:p>
        </p:txBody>
      </p:sp>
    </p:spTree>
    <p:extLst>
      <p:ext uri="{BB962C8B-B14F-4D97-AF65-F5344CB8AC3E}">
        <p14:creationId xmlns:p14="http://schemas.microsoft.com/office/powerpoint/2010/main" val="4248330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18A668-FF54-4BFC-84F8-F8256EB31289}"/>
              </a:ext>
            </a:extLst>
          </p:cNvPr>
          <p:cNvSpPr>
            <a:spLocks noGrp="1"/>
          </p:cNvSpPr>
          <p:nvPr>
            <p:ph type="dt" sz="half" idx="10"/>
          </p:nvPr>
        </p:nvSpPr>
        <p:spPr/>
        <p:txBody>
          <a:bodyPr/>
          <a:lstStyle/>
          <a:p>
            <a:fld id="{3EB16E45-282A-433F-9720-A9BCCFF21346}" type="datetimeFigureOut">
              <a:rPr lang="en-IN" smtClean="0"/>
              <a:t>10-02-2021</a:t>
            </a:fld>
            <a:endParaRPr lang="en-IN"/>
          </a:p>
        </p:txBody>
      </p:sp>
      <p:sp>
        <p:nvSpPr>
          <p:cNvPr id="3" name="Footer Placeholder 2">
            <a:extLst>
              <a:ext uri="{FF2B5EF4-FFF2-40B4-BE49-F238E27FC236}">
                <a16:creationId xmlns:a16="http://schemas.microsoft.com/office/drawing/2014/main" id="{1C12C6B1-864F-4AF0-A559-8A56E7DF416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017BAEA-8014-4699-B348-3DAFDFB615A0}"/>
              </a:ext>
            </a:extLst>
          </p:cNvPr>
          <p:cNvSpPr>
            <a:spLocks noGrp="1"/>
          </p:cNvSpPr>
          <p:nvPr>
            <p:ph type="sldNum" sz="quarter" idx="12"/>
          </p:nvPr>
        </p:nvSpPr>
        <p:spPr/>
        <p:txBody>
          <a:bodyPr/>
          <a:lstStyle/>
          <a:p>
            <a:fld id="{F900B74C-2DB8-426B-9032-F2156DFC5290}" type="slidenum">
              <a:rPr lang="en-IN" smtClean="0"/>
              <a:t>‹#›</a:t>
            </a:fld>
            <a:endParaRPr lang="en-IN"/>
          </a:p>
        </p:txBody>
      </p:sp>
    </p:spTree>
    <p:extLst>
      <p:ext uri="{BB962C8B-B14F-4D97-AF65-F5344CB8AC3E}">
        <p14:creationId xmlns:p14="http://schemas.microsoft.com/office/powerpoint/2010/main" val="1359099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59A93-002F-4671-95A3-F9ECF68E9A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328871F-6943-4245-938F-6EF15CC1B7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4EE6F19-500E-4161-9ECD-0FB2C0533B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58F304-7558-4C66-A3FD-21EE2258BEC4}"/>
              </a:ext>
            </a:extLst>
          </p:cNvPr>
          <p:cNvSpPr>
            <a:spLocks noGrp="1"/>
          </p:cNvSpPr>
          <p:nvPr>
            <p:ph type="dt" sz="half" idx="10"/>
          </p:nvPr>
        </p:nvSpPr>
        <p:spPr/>
        <p:txBody>
          <a:bodyPr/>
          <a:lstStyle/>
          <a:p>
            <a:fld id="{3EB16E45-282A-433F-9720-A9BCCFF21346}" type="datetimeFigureOut">
              <a:rPr lang="en-IN" smtClean="0"/>
              <a:t>10-02-2021</a:t>
            </a:fld>
            <a:endParaRPr lang="en-IN"/>
          </a:p>
        </p:txBody>
      </p:sp>
      <p:sp>
        <p:nvSpPr>
          <p:cNvPr id="6" name="Footer Placeholder 5">
            <a:extLst>
              <a:ext uri="{FF2B5EF4-FFF2-40B4-BE49-F238E27FC236}">
                <a16:creationId xmlns:a16="http://schemas.microsoft.com/office/drawing/2014/main" id="{3C8A2949-4422-4DEF-AED2-7772FE773B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172EB7-1F2E-4870-B52A-16A9E1993E97}"/>
              </a:ext>
            </a:extLst>
          </p:cNvPr>
          <p:cNvSpPr>
            <a:spLocks noGrp="1"/>
          </p:cNvSpPr>
          <p:nvPr>
            <p:ph type="sldNum" sz="quarter" idx="12"/>
          </p:nvPr>
        </p:nvSpPr>
        <p:spPr/>
        <p:txBody>
          <a:bodyPr/>
          <a:lstStyle/>
          <a:p>
            <a:fld id="{F900B74C-2DB8-426B-9032-F2156DFC5290}" type="slidenum">
              <a:rPr lang="en-IN" smtClean="0"/>
              <a:t>‹#›</a:t>
            </a:fld>
            <a:endParaRPr lang="en-IN"/>
          </a:p>
        </p:txBody>
      </p:sp>
    </p:spTree>
    <p:extLst>
      <p:ext uri="{BB962C8B-B14F-4D97-AF65-F5344CB8AC3E}">
        <p14:creationId xmlns:p14="http://schemas.microsoft.com/office/powerpoint/2010/main" val="917876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FBD40-FDF2-4228-99F8-F04142B5ED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2610ADF-385C-4CBC-8F00-58B95B7207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6EAA863-0E42-4783-B55E-371AF534CD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4C35B7-72E7-4B28-A2F4-374982E19B37}"/>
              </a:ext>
            </a:extLst>
          </p:cNvPr>
          <p:cNvSpPr>
            <a:spLocks noGrp="1"/>
          </p:cNvSpPr>
          <p:nvPr>
            <p:ph type="dt" sz="half" idx="10"/>
          </p:nvPr>
        </p:nvSpPr>
        <p:spPr/>
        <p:txBody>
          <a:bodyPr/>
          <a:lstStyle/>
          <a:p>
            <a:fld id="{3EB16E45-282A-433F-9720-A9BCCFF21346}" type="datetimeFigureOut">
              <a:rPr lang="en-IN" smtClean="0"/>
              <a:t>10-02-2021</a:t>
            </a:fld>
            <a:endParaRPr lang="en-IN"/>
          </a:p>
        </p:txBody>
      </p:sp>
      <p:sp>
        <p:nvSpPr>
          <p:cNvPr id="6" name="Footer Placeholder 5">
            <a:extLst>
              <a:ext uri="{FF2B5EF4-FFF2-40B4-BE49-F238E27FC236}">
                <a16:creationId xmlns:a16="http://schemas.microsoft.com/office/drawing/2014/main" id="{6A1D21D0-2DA0-4C0E-B6F0-181DB963EB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096DB6-12A8-4C5D-B88E-1ACF76162E13}"/>
              </a:ext>
            </a:extLst>
          </p:cNvPr>
          <p:cNvSpPr>
            <a:spLocks noGrp="1"/>
          </p:cNvSpPr>
          <p:nvPr>
            <p:ph type="sldNum" sz="quarter" idx="12"/>
          </p:nvPr>
        </p:nvSpPr>
        <p:spPr/>
        <p:txBody>
          <a:bodyPr/>
          <a:lstStyle/>
          <a:p>
            <a:fld id="{F900B74C-2DB8-426B-9032-F2156DFC5290}" type="slidenum">
              <a:rPr lang="en-IN" smtClean="0"/>
              <a:t>‹#›</a:t>
            </a:fld>
            <a:endParaRPr lang="en-IN"/>
          </a:p>
        </p:txBody>
      </p:sp>
    </p:spTree>
    <p:extLst>
      <p:ext uri="{BB962C8B-B14F-4D97-AF65-F5344CB8AC3E}">
        <p14:creationId xmlns:p14="http://schemas.microsoft.com/office/powerpoint/2010/main" val="39477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BB6AA-FB63-4225-99A5-CEDA0F92D69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F826D4-D573-45B0-8081-2BA4855663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579CCA-9137-45C3-A2D6-037C3290FFB7}"/>
              </a:ext>
            </a:extLst>
          </p:cNvPr>
          <p:cNvSpPr>
            <a:spLocks noGrp="1"/>
          </p:cNvSpPr>
          <p:nvPr>
            <p:ph type="dt" sz="half" idx="10"/>
          </p:nvPr>
        </p:nvSpPr>
        <p:spPr/>
        <p:txBody>
          <a:bodyPr/>
          <a:lstStyle/>
          <a:p>
            <a:fld id="{3EB16E45-282A-433F-9720-A9BCCFF21346}" type="datetimeFigureOut">
              <a:rPr lang="en-IN" smtClean="0"/>
              <a:t>10-02-2021</a:t>
            </a:fld>
            <a:endParaRPr lang="en-IN"/>
          </a:p>
        </p:txBody>
      </p:sp>
      <p:sp>
        <p:nvSpPr>
          <p:cNvPr id="5" name="Footer Placeholder 4">
            <a:extLst>
              <a:ext uri="{FF2B5EF4-FFF2-40B4-BE49-F238E27FC236}">
                <a16:creationId xmlns:a16="http://schemas.microsoft.com/office/drawing/2014/main" id="{9B46467D-319E-4806-AED3-631E9A69A9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72F332-4101-4FCE-99C2-708A462B00D7}"/>
              </a:ext>
            </a:extLst>
          </p:cNvPr>
          <p:cNvSpPr>
            <a:spLocks noGrp="1"/>
          </p:cNvSpPr>
          <p:nvPr>
            <p:ph type="sldNum" sz="quarter" idx="12"/>
          </p:nvPr>
        </p:nvSpPr>
        <p:spPr/>
        <p:txBody>
          <a:bodyPr/>
          <a:lstStyle/>
          <a:p>
            <a:fld id="{F900B74C-2DB8-426B-9032-F2156DFC5290}" type="slidenum">
              <a:rPr lang="en-IN" smtClean="0"/>
              <a:t>‹#›</a:t>
            </a:fld>
            <a:endParaRPr lang="en-IN"/>
          </a:p>
        </p:txBody>
      </p:sp>
    </p:spTree>
    <p:extLst>
      <p:ext uri="{BB962C8B-B14F-4D97-AF65-F5344CB8AC3E}">
        <p14:creationId xmlns:p14="http://schemas.microsoft.com/office/powerpoint/2010/main" val="2196754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B74832-5710-4135-A47F-CD2649540F8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4850D9-4B84-4F0D-85CC-E4AD1A2881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C74F16-6A02-4BC2-827F-574855D00FB5}"/>
              </a:ext>
            </a:extLst>
          </p:cNvPr>
          <p:cNvSpPr>
            <a:spLocks noGrp="1"/>
          </p:cNvSpPr>
          <p:nvPr>
            <p:ph type="dt" sz="half" idx="10"/>
          </p:nvPr>
        </p:nvSpPr>
        <p:spPr/>
        <p:txBody>
          <a:bodyPr/>
          <a:lstStyle/>
          <a:p>
            <a:fld id="{3EB16E45-282A-433F-9720-A9BCCFF21346}" type="datetimeFigureOut">
              <a:rPr lang="en-IN" smtClean="0"/>
              <a:t>10-02-2021</a:t>
            </a:fld>
            <a:endParaRPr lang="en-IN"/>
          </a:p>
        </p:txBody>
      </p:sp>
      <p:sp>
        <p:nvSpPr>
          <p:cNvPr id="5" name="Footer Placeholder 4">
            <a:extLst>
              <a:ext uri="{FF2B5EF4-FFF2-40B4-BE49-F238E27FC236}">
                <a16:creationId xmlns:a16="http://schemas.microsoft.com/office/drawing/2014/main" id="{4693C8F2-8110-4664-87B7-FAD9D615F2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451036-DFA6-4C8D-A19A-24A100A51C92}"/>
              </a:ext>
            </a:extLst>
          </p:cNvPr>
          <p:cNvSpPr>
            <a:spLocks noGrp="1"/>
          </p:cNvSpPr>
          <p:nvPr>
            <p:ph type="sldNum" sz="quarter" idx="12"/>
          </p:nvPr>
        </p:nvSpPr>
        <p:spPr/>
        <p:txBody>
          <a:bodyPr/>
          <a:lstStyle/>
          <a:p>
            <a:fld id="{F900B74C-2DB8-426B-9032-F2156DFC5290}" type="slidenum">
              <a:rPr lang="en-IN" smtClean="0"/>
              <a:t>‹#›</a:t>
            </a:fld>
            <a:endParaRPr lang="en-IN"/>
          </a:p>
        </p:txBody>
      </p:sp>
    </p:spTree>
    <p:extLst>
      <p:ext uri="{BB962C8B-B14F-4D97-AF65-F5344CB8AC3E}">
        <p14:creationId xmlns:p14="http://schemas.microsoft.com/office/powerpoint/2010/main" val="1897351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BE5823-422C-4E18-B6A6-3B684ECF07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E720EA-9B50-41B8-A3D0-5189A7EFD7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1F6C4E-FA43-4F4D-AB57-635BE8D9BE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B16E45-282A-433F-9720-A9BCCFF21346}" type="datetimeFigureOut">
              <a:rPr lang="en-IN" smtClean="0"/>
              <a:t>10-02-2021</a:t>
            </a:fld>
            <a:endParaRPr lang="en-IN"/>
          </a:p>
        </p:txBody>
      </p:sp>
      <p:sp>
        <p:nvSpPr>
          <p:cNvPr id="5" name="Footer Placeholder 4">
            <a:extLst>
              <a:ext uri="{FF2B5EF4-FFF2-40B4-BE49-F238E27FC236}">
                <a16:creationId xmlns:a16="http://schemas.microsoft.com/office/drawing/2014/main" id="{C3FEDFDC-4D3D-4718-9F87-14F201A59D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5E1DDEA-248F-4D75-8A6D-AF2F241342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00B74C-2DB8-426B-9032-F2156DFC5290}" type="slidenum">
              <a:rPr lang="en-IN" smtClean="0"/>
              <a:t>‹#›</a:t>
            </a:fld>
            <a:endParaRPr lang="en-IN"/>
          </a:p>
        </p:txBody>
      </p:sp>
    </p:spTree>
    <p:extLst>
      <p:ext uri="{BB962C8B-B14F-4D97-AF65-F5344CB8AC3E}">
        <p14:creationId xmlns:p14="http://schemas.microsoft.com/office/powerpoint/2010/main" val="38409794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7485D-1B5D-46F5-81BE-098591484651}"/>
              </a:ext>
            </a:extLst>
          </p:cNvPr>
          <p:cNvSpPr>
            <a:spLocks noGrp="1"/>
          </p:cNvSpPr>
          <p:nvPr>
            <p:ph type="title"/>
          </p:nvPr>
        </p:nvSpPr>
        <p:spPr>
          <a:xfrm>
            <a:off x="838200" y="542407"/>
            <a:ext cx="10515600" cy="885177"/>
          </a:xfrm>
        </p:spPr>
        <p:txBody>
          <a:bodyPr>
            <a:normAutofit fontScale="90000"/>
          </a:bodyPr>
          <a:lstStyle/>
          <a:p>
            <a:r>
              <a:rPr lang="en-US" sz="2200" b="1" dirty="0">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Q1.</a:t>
            </a:r>
            <a:r>
              <a:rPr lang="en-US" sz="2200"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 </a:t>
            </a:r>
            <a:r>
              <a:rPr lang="en-US" sz="2200" dirty="0">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Silver has FCC structure and its atomic radius is 1.414 A</a:t>
            </a:r>
            <a:r>
              <a:rPr lang="en-US" sz="2200" baseline="30000" dirty="0">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0</a:t>
            </a:r>
            <a:r>
              <a:rPr lang="en-US" sz="2200" dirty="0">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 Find the interplanar spacing of the (200) and (111) planes.</a:t>
            </a:r>
            <a:br>
              <a:rPr lang="en-IN" sz="18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873E0F8-448E-4459-8C4C-2EEAA8B2F465}"/>
                  </a:ext>
                </a:extLst>
              </p:cNvPr>
              <p:cNvSpPr>
                <a:spLocks noGrp="1"/>
              </p:cNvSpPr>
              <p:nvPr>
                <p:ph idx="1"/>
              </p:nvPr>
            </p:nvSpPr>
            <p:spPr/>
            <p:txBody>
              <a:bodyPr>
                <a:normAutofit fontScale="92500" lnSpcReduction="20000"/>
              </a:bodyPr>
              <a:lstStyle/>
              <a:p>
                <a:pPr>
                  <a:lnSpc>
                    <a:spcPct val="115000"/>
                  </a:lnSpc>
                  <a:spcAft>
                    <a:spcPts val="1000"/>
                  </a:spcAft>
                </a:pPr>
                <a:r>
                  <a:rPr lang="en-US" sz="1800" b="1" dirty="0">
                    <a:effectLst/>
                    <a:latin typeface="Cambria" panose="02040503050406030204" pitchFamily="18" charset="0"/>
                    <a:ea typeface="Calibri" panose="020F0502020204030204" pitchFamily="34" charset="0"/>
                    <a:cs typeface="Times New Roman" panose="02020603050405020304" pitchFamily="18" charset="0"/>
                  </a:rPr>
                  <a:t>Given: -</a:t>
                </a:r>
                <a:r>
                  <a:rPr lang="en-US" sz="1800" dirty="0">
                    <a:effectLst/>
                    <a:latin typeface="Cambria" panose="02040503050406030204" pitchFamily="18" charset="0"/>
                    <a:ea typeface="Calibri" panose="020F0502020204030204" pitchFamily="34" charset="0"/>
                    <a:cs typeface="Times New Roman" panose="02020603050405020304" pitchFamily="18" charset="0"/>
                  </a:rPr>
                  <a:t> r=1.414 A</a:t>
                </a:r>
                <a:r>
                  <a:rPr lang="en-US" sz="1800" baseline="30000" dirty="0">
                    <a:effectLst/>
                    <a:latin typeface="Cambria" panose="02040503050406030204" pitchFamily="18" charset="0"/>
                    <a:ea typeface="Calibri" panose="020F0502020204030204" pitchFamily="34" charset="0"/>
                    <a:cs typeface="Times New Roman" panose="02020603050405020304" pitchFamily="18" charset="0"/>
                  </a:rPr>
                  <a:t>0</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b="1" dirty="0">
                    <a:effectLst/>
                    <a:latin typeface="Cambria" panose="02040503050406030204" pitchFamily="18" charset="0"/>
                    <a:ea typeface="Calibri" panose="020F0502020204030204" pitchFamily="34" charset="0"/>
                    <a:cs typeface="Times New Roman" panose="02020603050405020304" pitchFamily="18" charset="0"/>
                  </a:rPr>
                  <a:t>Formula: -</a:t>
                </a: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r>
                  <a:rPr lang="en-US" sz="1800" dirty="0" err="1">
                    <a:effectLst/>
                    <a:latin typeface="Cambria" panose="02040503050406030204" pitchFamily="18" charset="0"/>
                    <a:ea typeface="Calibri" panose="020F0502020204030204" pitchFamily="34" charset="0"/>
                    <a:cs typeface="Times New Roman" panose="02020603050405020304" pitchFamily="18" charset="0"/>
                  </a:rPr>
                  <a:t>d</a:t>
                </a:r>
                <a:r>
                  <a:rPr lang="en-US" sz="1800" baseline="-25000" dirty="0" err="1">
                    <a:effectLst/>
                    <a:latin typeface="Cambria" panose="02040503050406030204" pitchFamily="18" charset="0"/>
                    <a:ea typeface="Calibri" panose="020F0502020204030204" pitchFamily="34" charset="0"/>
                    <a:cs typeface="Times New Roman" panose="02020603050405020304" pitchFamily="18" charset="0"/>
                  </a:rPr>
                  <a:t>hlk</a:t>
                </a:r>
                <a:r>
                  <a:rPr lang="en-US" sz="1800" dirty="0">
                    <a:effectLst/>
                    <a:latin typeface="Cambria" panose="02040503050406030204" pitchFamily="18" charset="0"/>
                    <a:ea typeface="Calibri" panose="020F0502020204030204" pitchFamily="34" charset="0"/>
                    <a:cs typeface="Times New Roman" panose="02020603050405020304" pitchFamily="18" charset="0"/>
                  </a:rPr>
                  <a:t>=</a:t>
                </a:r>
                <a14:m>
                  <m:oMath xmlns:m="http://schemas.openxmlformats.org/officeDocument/2006/math">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num>
                      <m:den>
                        <m:rad>
                          <m:radPr>
                            <m:degHide m:val="on"/>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radPr>
                          <m:deg/>
                          <m:e>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h</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𝑙</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e>
                        </m:rad>
                      </m:den>
                    </m:f>
                  </m:oMath>
                </a14:m>
                <a:r>
                  <a:rPr lang="en-US" sz="1800" dirty="0">
                    <a:effectLst/>
                    <a:latin typeface="Cambria" panose="02040503050406030204" pitchFamily="18" charset="0"/>
                    <a:ea typeface="Calibri" panose="020F0502020204030204" pitchFamily="34" charset="0"/>
                    <a:cs typeface="Times New Roman" panose="02020603050405020304" pitchFamily="18" charset="0"/>
                  </a:rPr>
                  <a:t> and r=</a:t>
                </a:r>
                <a14:m>
                  <m:oMath xmlns:m="http://schemas.openxmlformats.org/officeDocument/2006/math">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rad>
                          <m:radPr>
                            <m:degHide m:val="on"/>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e>
                        </m:rad>
                      </m:den>
                    </m:f>
                  </m:oMath>
                </a14:m>
                <a:r>
                  <a:rPr lang="en-US" sz="1800" dirty="0">
                    <a:effectLst/>
                    <a:latin typeface="Cambria" panose="02040503050406030204" pitchFamily="18" charset="0"/>
                    <a:ea typeface="Calibri" panose="020F0502020204030204" pitchFamily="34" charset="0"/>
                    <a:cs typeface="Times New Roman" panose="02020603050405020304" pitchFamily="18" charset="0"/>
                  </a:rPr>
                  <a:t> for FCC structure</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b="1" u="sng" dirty="0">
                    <a:effectLst/>
                    <a:latin typeface="Cambria" panose="02040503050406030204" pitchFamily="18" charset="0"/>
                    <a:ea typeface="Calibri" panose="020F0502020204030204" pitchFamily="34" charset="0"/>
                    <a:cs typeface="Times New Roman" panose="02020603050405020304" pitchFamily="18" charset="0"/>
                  </a:rPr>
                  <a:t>Solution: -</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Calibri" panose="020F0502020204030204" pitchFamily="34" charset="0"/>
                    <a:cs typeface="Times New Roman" panose="02020603050405020304" pitchFamily="18" charset="0"/>
                  </a:rPr>
                  <a:t>		a=2</a:t>
                </a:r>
                <a14:m>
                  <m:oMath xmlns:m="http://schemas.openxmlformats.org/officeDocument/2006/math">
                    <m:rad>
                      <m:radPr>
                        <m:degHide m:val="on"/>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e>
                    </m:rad>
                  </m:oMath>
                </a14:m>
                <a:r>
                  <a:rPr lang="en-US" sz="1800" dirty="0">
                    <a:effectLst/>
                    <a:latin typeface="Cambria" panose="02040503050406030204" pitchFamily="18" charset="0"/>
                    <a:ea typeface="Calibri" panose="020F0502020204030204" pitchFamily="34" charset="0"/>
                    <a:cs typeface="Times New Roman" panose="02020603050405020304" pitchFamily="18" charset="0"/>
                  </a:rPr>
                  <a:t>r=3.99A</a:t>
                </a:r>
                <a:r>
                  <a:rPr lang="en-US" sz="1800" baseline="30000" dirty="0">
                    <a:effectLst/>
                    <a:latin typeface="Cambria" panose="02040503050406030204" pitchFamily="18" charset="0"/>
                    <a:ea typeface="Calibri" panose="020F0502020204030204" pitchFamily="34" charset="0"/>
                    <a:cs typeface="Times New Roman" panose="02020603050405020304" pitchFamily="18" charset="0"/>
                  </a:rPr>
                  <a:t>o</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Calibri" panose="020F0502020204030204" pitchFamily="34" charset="0"/>
                    <a:cs typeface="Times New Roman" panose="02020603050405020304" pitchFamily="18" charset="0"/>
                  </a:rPr>
                  <a:t>		d</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200</a:t>
                </a:r>
                <a:r>
                  <a:rPr lang="en-US" sz="1800" dirty="0">
                    <a:effectLst/>
                    <a:latin typeface="Cambria" panose="02040503050406030204" pitchFamily="18" charset="0"/>
                    <a:ea typeface="Calibri" panose="020F0502020204030204" pitchFamily="34" charset="0"/>
                    <a:cs typeface="Times New Roman" panose="02020603050405020304" pitchFamily="18" charset="0"/>
                  </a:rPr>
                  <a:t>=</a:t>
                </a:r>
                <a14:m>
                  <m:oMath xmlns:m="http://schemas.openxmlformats.org/officeDocument/2006/math">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3.99</m:t>
                        </m:r>
                      </m:num>
                      <m:den>
                        <m:rad>
                          <m:radPr>
                            <m:degHide m:val="on"/>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radPr>
                          <m:deg/>
                          <m:e>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e>
                        </m:rad>
                      </m:den>
                    </m:f>
                  </m:oMath>
                </a14:m>
                <a:r>
                  <a:rPr lang="en-US" sz="1800" dirty="0">
                    <a:effectLst/>
                    <a:latin typeface="Cambria" panose="02040503050406030204" pitchFamily="18" charset="0"/>
                    <a:ea typeface="Calibri" panose="020F0502020204030204" pitchFamily="34" charset="0"/>
                    <a:cs typeface="Times New Roman" panose="02020603050405020304" pitchFamily="18" charset="0"/>
                  </a:rPr>
                  <a:t>=1.995A</a:t>
                </a:r>
                <a:r>
                  <a:rPr lang="en-US" sz="1800" baseline="30000" dirty="0">
                    <a:effectLst/>
                    <a:latin typeface="Cambria" panose="02040503050406030204" pitchFamily="18" charset="0"/>
                    <a:ea typeface="Calibri" panose="020F0502020204030204" pitchFamily="34" charset="0"/>
                    <a:cs typeface="Times New Roman" panose="02020603050405020304" pitchFamily="18" charset="0"/>
                  </a:rPr>
                  <a:t>o</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Calibri" panose="020F0502020204030204" pitchFamily="34" charset="0"/>
                    <a:cs typeface="Times New Roman" panose="02020603050405020304" pitchFamily="18" charset="0"/>
                  </a:rPr>
                  <a:t>		d</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111</a:t>
                </a:r>
                <a:r>
                  <a:rPr lang="en-US" sz="1800" dirty="0">
                    <a:effectLst/>
                    <a:latin typeface="Cambria" panose="02040503050406030204" pitchFamily="18" charset="0"/>
                    <a:ea typeface="Calibri" panose="020F0502020204030204" pitchFamily="34" charset="0"/>
                    <a:cs typeface="Times New Roman" panose="02020603050405020304" pitchFamily="18" charset="0"/>
                  </a:rPr>
                  <a:t>=</a:t>
                </a:r>
                <a14:m>
                  <m:oMath xmlns:m="http://schemas.openxmlformats.org/officeDocument/2006/math">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3.99</m:t>
                        </m:r>
                      </m:num>
                      <m:den>
                        <m:rad>
                          <m:radPr>
                            <m:degHide m:val="on"/>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radPr>
                          <m:deg/>
                          <m:e>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e>
                        </m:rad>
                      </m:den>
                    </m:f>
                  </m:oMath>
                </a14:m>
                <a:r>
                  <a:rPr lang="en-US" sz="1800" dirty="0">
                    <a:effectLst/>
                    <a:latin typeface="Cambria" panose="02040503050406030204" pitchFamily="18" charset="0"/>
                    <a:ea typeface="Calibri" panose="020F0502020204030204" pitchFamily="34" charset="0"/>
                    <a:cs typeface="Times New Roman" panose="02020603050405020304" pitchFamily="18" charset="0"/>
                  </a:rPr>
                  <a:t>=2.303A</a:t>
                </a:r>
                <a:r>
                  <a:rPr lang="en-US" sz="1800" baseline="30000" dirty="0">
                    <a:effectLst/>
                    <a:latin typeface="Cambria" panose="02040503050406030204" pitchFamily="18" charset="0"/>
                    <a:ea typeface="Calibri" panose="020F0502020204030204" pitchFamily="34" charset="0"/>
                    <a:cs typeface="Times New Roman" panose="02020603050405020304" pitchFamily="18" charset="0"/>
                  </a:rPr>
                  <a:t>o</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b="1" u="sng" dirty="0">
                    <a:effectLst/>
                    <a:latin typeface="Cambria" panose="02040503050406030204" pitchFamily="18" charset="0"/>
                    <a:ea typeface="Calibri" panose="020F0502020204030204" pitchFamily="34" charset="0"/>
                    <a:cs typeface="Times New Roman" panose="02020603050405020304" pitchFamily="18" charset="0"/>
                  </a:rPr>
                  <a:t>Ans: -</a:t>
                </a:r>
                <a:r>
                  <a:rPr lang="en-US" sz="1800" u="sng" dirty="0">
                    <a:effectLst/>
                    <a:latin typeface="Cambria" panose="02040503050406030204" pitchFamily="18" charset="0"/>
                    <a:ea typeface="Calibri" panose="020F0502020204030204" pitchFamily="34" charset="0"/>
                    <a:cs typeface="Times New Roman" panose="02020603050405020304" pitchFamily="18" charset="0"/>
                  </a:rPr>
                  <a:t> d</a:t>
                </a:r>
                <a:r>
                  <a:rPr lang="en-US" sz="1800" u="sng" baseline="-25000" dirty="0">
                    <a:effectLst/>
                    <a:latin typeface="Cambria" panose="02040503050406030204" pitchFamily="18" charset="0"/>
                    <a:ea typeface="Calibri" panose="020F0502020204030204" pitchFamily="34" charset="0"/>
                    <a:cs typeface="Times New Roman" panose="02020603050405020304" pitchFamily="18" charset="0"/>
                  </a:rPr>
                  <a:t>200</a:t>
                </a:r>
                <a:r>
                  <a:rPr lang="en-US" sz="1800" u="sng" dirty="0">
                    <a:effectLst/>
                    <a:latin typeface="Cambria" panose="02040503050406030204" pitchFamily="18" charset="0"/>
                    <a:ea typeface="Calibri" panose="020F0502020204030204" pitchFamily="34" charset="0"/>
                    <a:cs typeface="Times New Roman" panose="02020603050405020304" pitchFamily="18" charset="0"/>
                  </a:rPr>
                  <a:t>=1.995A</a:t>
                </a:r>
                <a:r>
                  <a:rPr lang="en-US" sz="1800" u="sng" baseline="30000" dirty="0">
                    <a:effectLst/>
                    <a:latin typeface="Cambria" panose="02040503050406030204" pitchFamily="18" charset="0"/>
                    <a:ea typeface="Calibri" panose="020F0502020204030204" pitchFamily="34" charset="0"/>
                    <a:cs typeface="Times New Roman" panose="02020603050405020304" pitchFamily="18" charset="0"/>
                  </a:rPr>
                  <a:t>0</a:t>
                </a:r>
              </a:p>
              <a:p>
                <a:pPr>
                  <a:lnSpc>
                    <a:spcPct val="115000"/>
                  </a:lnSpc>
                  <a:spcAft>
                    <a:spcPts val="1000"/>
                  </a:spcAft>
                </a:pPr>
                <a:r>
                  <a:rPr lang="en-US" sz="1800" u="sng" dirty="0">
                    <a:effectLst/>
                    <a:latin typeface="Cambria" panose="02040503050406030204" pitchFamily="18" charset="0"/>
                    <a:ea typeface="Calibri" panose="020F0502020204030204" pitchFamily="34" charset="0"/>
                    <a:cs typeface="Times New Roman" panose="02020603050405020304" pitchFamily="18" charset="0"/>
                  </a:rPr>
                  <a:t>d</a:t>
                </a:r>
                <a:r>
                  <a:rPr lang="en-US" sz="1800" u="sng" baseline="-25000" dirty="0">
                    <a:effectLst/>
                    <a:latin typeface="Cambria" panose="02040503050406030204" pitchFamily="18" charset="0"/>
                    <a:ea typeface="Calibri" panose="020F0502020204030204" pitchFamily="34" charset="0"/>
                    <a:cs typeface="Times New Roman" panose="02020603050405020304" pitchFamily="18" charset="0"/>
                  </a:rPr>
                  <a:t>111</a:t>
                </a:r>
                <a:r>
                  <a:rPr lang="en-US" sz="1800" u="sng" dirty="0">
                    <a:effectLst/>
                    <a:latin typeface="Cambria" panose="02040503050406030204" pitchFamily="18" charset="0"/>
                    <a:ea typeface="Calibri" panose="020F0502020204030204" pitchFamily="34" charset="0"/>
                    <a:cs typeface="Times New Roman" panose="02020603050405020304" pitchFamily="18" charset="0"/>
                  </a:rPr>
                  <a:t>=2.303A</a:t>
                </a:r>
                <a:r>
                  <a:rPr lang="en-US" sz="1800" u="sng" baseline="30000" dirty="0">
                    <a:effectLst/>
                    <a:latin typeface="Cambria" panose="02040503050406030204" pitchFamily="18" charset="0"/>
                    <a:ea typeface="Calibri" panose="020F0502020204030204" pitchFamily="34" charset="0"/>
                    <a:cs typeface="Times New Roman" panose="02020603050405020304" pitchFamily="18" charset="0"/>
                  </a:rPr>
                  <a:t>0</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0" indent="0">
                  <a:buNone/>
                </a:pPr>
                <a:endParaRPr lang="en-IN" dirty="0"/>
              </a:p>
            </p:txBody>
          </p:sp>
        </mc:Choice>
        <mc:Fallback>
          <p:sp>
            <p:nvSpPr>
              <p:cNvPr id="3" name="Content Placeholder 2">
                <a:extLst>
                  <a:ext uri="{FF2B5EF4-FFF2-40B4-BE49-F238E27FC236}">
                    <a16:creationId xmlns:a16="http://schemas.microsoft.com/office/drawing/2014/main" id="{8873E0F8-448E-4459-8C4C-2EEAA8B2F465}"/>
                  </a:ext>
                </a:extLst>
              </p:cNvPr>
              <p:cNvSpPr>
                <a:spLocks noGrp="1" noRot="1" noChangeAspect="1" noMove="1" noResize="1" noEditPoints="1" noAdjustHandles="1" noChangeArrowheads="1" noChangeShapeType="1" noTextEdit="1"/>
              </p:cNvSpPr>
              <p:nvPr>
                <p:ph idx="1"/>
              </p:nvPr>
            </p:nvSpPr>
            <p:spPr>
              <a:blipFill>
                <a:blip r:embed="rId2"/>
                <a:stretch>
                  <a:fillRect l="-290" t="-840"/>
                </a:stretch>
              </a:blipFill>
            </p:spPr>
            <p:txBody>
              <a:bodyPr/>
              <a:lstStyle/>
              <a:p>
                <a:r>
                  <a:rPr lang="en-IN">
                    <a:noFill/>
                  </a:rPr>
                  <a:t> </a:t>
                </a:r>
              </a:p>
            </p:txBody>
          </p:sp>
        </mc:Fallback>
      </mc:AlternateContent>
    </p:spTree>
    <p:extLst>
      <p:ext uri="{BB962C8B-B14F-4D97-AF65-F5344CB8AC3E}">
        <p14:creationId xmlns:p14="http://schemas.microsoft.com/office/powerpoint/2010/main" val="2498620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7B439-1A48-4A7B-8CB2-2A4D871AFC38}"/>
              </a:ext>
            </a:extLst>
          </p:cNvPr>
          <p:cNvSpPr>
            <a:spLocks noGrp="1"/>
          </p:cNvSpPr>
          <p:nvPr>
            <p:ph type="title"/>
          </p:nvPr>
        </p:nvSpPr>
        <p:spPr/>
        <p:txBody>
          <a:bodyPr/>
          <a:lstStyle/>
          <a:p>
            <a:r>
              <a:rPr lang="en-US" sz="1800" b="1" dirty="0">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Q2.</a:t>
            </a:r>
            <a:r>
              <a:rPr lang="en-US" sz="1800"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 Cu has FCC structure. If the interplanar spacing for the set of (111) planes is 2.80A</a:t>
            </a:r>
            <a:r>
              <a:rPr lang="en-US" sz="1800" baseline="30000"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0</a:t>
            </a:r>
            <a:r>
              <a:rPr lang="en-US" sz="1800"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 find the density and the diameter of the cu atom. The atomic weight of cu is 63.54.</a:t>
            </a:r>
            <a:br>
              <a:rPr lang="en-IN" sz="18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86B7EB4-56A1-4DFA-B9B0-C9E0ABBE6F10}"/>
                  </a:ext>
                </a:extLst>
              </p:cNvPr>
              <p:cNvSpPr>
                <a:spLocks noGrp="1"/>
              </p:cNvSpPr>
              <p:nvPr>
                <p:ph idx="1"/>
              </p:nvPr>
            </p:nvSpPr>
            <p:spPr>
              <a:xfrm>
                <a:off x="838200" y="1250302"/>
                <a:ext cx="10515600" cy="4926661"/>
              </a:xfrm>
            </p:spPr>
            <p:txBody>
              <a:bodyPr>
                <a:normAutofit fontScale="40000" lnSpcReduction="20000"/>
              </a:bodyPr>
              <a:lstStyle/>
              <a:p>
                <a:pPr marL="457200">
                  <a:lnSpc>
                    <a:spcPct val="115000"/>
                  </a:lnSpc>
                  <a:spcAft>
                    <a:spcPts val="1000"/>
                  </a:spcAft>
                </a:pPr>
                <a:r>
                  <a:rPr lang="en-US" sz="4000" b="1" dirty="0">
                    <a:effectLst/>
                    <a:latin typeface="Cambria" panose="02040503050406030204" pitchFamily="18" charset="0"/>
                    <a:ea typeface="Times New Roman" panose="02020603050405020304" pitchFamily="18" charset="0"/>
                    <a:cs typeface="Times New Roman" panose="02020603050405020304" pitchFamily="18" charset="0"/>
                  </a:rPr>
                  <a:t>Given: -</a:t>
                </a:r>
                <a:r>
                  <a:rPr lang="en-US" sz="4000" dirty="0">
                    <a:effectLst/>
                    <a:latin typeface="Cambria" panose="02040503050406030204" pitchFamily="18" charset="0"/>
                    <a:ea typeface="Times New Roman" panose="02020603050405020304" pitchFamily="18" charset="0"/>
                    <a:cs typeface="Times New Roman" panose="02020603050405020304" pitchFamily="18" charset="0"/>
                  </a:rPr>
                  <a:t> for FCC, n=4, 	d</a:t>
                </a:r>
                <a:r>
                  <a:rPr lang="en-US" sz="4000" baseline="-25000" dirty="0">
                    <a:effectLst/>
                    <a:latin typeface="Cambria" panose="02040503050406030204" pitchFamily="18" charset="0"/>
                    <a:ea typeface="Times New Roman" panose="02020603050405020304" pitchFamily="18" charset="0"/>
                    <a:cs typeface="Times New Roman" panose="02020603050405020304" pitchFamily="18" charset="0"/>
                  </a:rPr>
                  <a:t>111</a:t>
                </a:r>
                <a:r>
                  <a:rPr lang="en-US" sz="4000" dirty="0">
                    <a:effectLst/>
                    <a:latin typeface="Cambria" panose="02040503050406030204" pitchFamily="18" charset="0"/>
                    <a:ea typeface="Times New Roman" panose="02020603050405020304" pitchFamily="18" charset="0"/>
                    <a:cs typeface="Times New Roman" panose="02020603050405020304" pitchFamily="18" charset="0"/>
                  </a:rPr>
                  <a:t>=2.08A</a:t>
                </a:r>
                <a:r>
                  <a:rPr lang="en-US" sz="4000" baseline="30000" dirty="0">
                    <a:effectLst/>
                    <a:latin typeface="Cambria" panose="02040503050406030204" pitchFamily="18" charset="0"/>
                    <a:ea typeface="Times New Roman" panose="02020603050405020304" pitchFamily="18" charset="0"/>
                    <a:cs typeface="Times New Roman" panose="02020603050405020304" pitchFamily="18" charset="0"/>
                  </a:rPr>
                  <a:t>0</a:t>
                </a:r>
                <a:endParaRPr lang="en-IN" sz="40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spcAft>
                    <a:spcPts val="1000"/>
                  </a:spcAft>
                </a:pPr>
                <a:r>
                  <a:rPr lang="en-US" sz="4000" dirty="0">
                    <a:effectLst/>
                    <a:latin typeface="Cambria" panose="02040503050406030204" pitchFamily="18" charset="0"/>
                    <a:ea typeface="Times New Roman" panose="02020603050405020304" pitchFamily="18" charset="0"/>
                    <a:cs typeface="Times New Roman" panose="02020603050405020304" pitchFamily="18" charset="0"/>
                  </a:rPr>
                  <a:t>	M=63.54, N=6.023x10</a:t>
                </a:r>
                <a:r>
                  <a:rPr lang="en-US" sz="4000" baseline="30000" dirty="0">
                    <a:effectLst/>
                    <a:latin typeface="Cambria" panose="02040503050406030204" pitchFamily="18" charset="0"/>
                    <a:ea typeface="Times New Roman" panose="02020603050405020304" pitchFamily="18" charset="0"/>
                    <a:cs typeface="Times New Roman" panose="02020603050405020304" pitchFamily="18" charset="0"/>
                  </a:rPr>
                  <a:t>26</a:t>
                </a:r>
                <a:r>
                  <a:rPr lang="en-US" sz="4000" dirty="0">
                    <a:effectLst/>
                    <a:latin typeface="Cambria" panose="02040503050406030204" pitchFamily="18" charset="0"/>
                    <a:ea typeface="Times New Roman" panose="02020603050405020304" pitchFamily="18" charset="0"/>
                    <a:cs typeface="Times New Roman" panose="02020603050405020304" pitchFamily="18" charset="0"/>
                  </a:rPr>
                  <a:t> /kg-mole</a:t>
                </a:r>
                <a:endParaRPr lang="en-IN" sz="40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spcAft>
                    <a:spcPts val="1000"/>
                  </a:spcAft>
                </a:pPr>
                <a:r>
                  <a:rPr lang="en-US" sz="4000" b="1" dirty="0">
                    <a:effectLst/>
                    <a:latin typeface="Cambria" panose="02040503050406030204" pitchFamily="18" charset="0"/>
                    <a:ea typeface="Times New Roman" panose="02020603050405020304" pitchFamily="18" charset="0"/>
                    <a:cs typeface="Times New Roman" panose="02020603050405020304" pitchFamily="18" charset="0"/>
                  </a:rPr>
                  <a:t>Formula: -</a:t>
                </a:r>
                <a:r>
                  <a:rPr lang="en-US" sz="4000" dirty="0">
                    <a:effectLst/>
                    <a:latin typeface="Cambria" panose="02040503050406030204" pitchFamily="18" charset="0"/>
                    <a:ea typeface="Times New Roman" panose="02020603050405020304" pitchFamily="18" charset="0"/>
                    <a:cs typeface="Times New Roman" panose="02020603050405020304" pitchFamily="18" charset="0"/>
                  </a:rPr>
                  <a:t> </a:t>
                </a:r>
                <a:r>
                  <a:rPr lang="en-US" sz="4000" dirty="0" err="1">
                    <a:effectLst/>
                    <a:latin typeface="Cambria" panose="02040503050406030204" pitchFamily="18" charset="0"/>
                    <a:ea typeface="Calibri" panose="020F0502020204030204" pitchFamily="34" charset="0"/>
                    <a:cs typeface="Times New Roman" panose="02020603050405020304" pitchFamily="18" charset="0"/>
                  </a:rPr>
                  <a:t>d</a:t>
                </a:r>
                <a:r>
                  <a:rPr lang="en-US" sz="4000" baseline="-25000" dirty="0" err="1">
                    <a:effectLst/>
                    <a:latin typeface="Cambria" panose="02040503050406030204" pitchFamily="18" charset="0"/>
                    <a:ea typeface="Calibri" panose="020F0502020204030204" pitchFamily="34" charset="0"/>
                    <a:cs typeface="Times New Roman" panose="02020603050405020304" pitchFamily="18" charset="0"/>
                  </a:rPr>
                  <a:t>hlk</a:t>
                </a:r>
                <a:r>
                  <a:rPr lang="en-US" sz="4000" dirty="0">
                    <a:effectLst/>
                    <a:latin typeface="Cambria" panose="02040503050406030204" pitchFamily="18" charset="0"/>
                    <a:ea typeface="Calibri" panose="020F0502020204030204" pitchFamily="34" charset="0"/>
                    <a:cs typeface="Times New Roman" panose="02020603050405020304" pitchFamily="18" charset="0"/>
                  </a:rPr>
                  <a:t>=</a:t>
                </a:r>
                <a14:m>
                  <m:oMath xmlns:m="http://schemas.openxmlformats.org/officeDocument/2006/math">
                    <m:f>
                      <m:fPr>
                        <m:ctrlPr>
                          <a:rPr lang="en-IN" sz="4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4000" i="1">
                            <a:effectLst/>
                            <a:latin typeface="Cambria Math" panose="02040503050406030204" pitchFamily="18" charset="0"/>
                            <a:ea typeface="Calibri" panose="020F0502020204030204" pitchFamily="34" charset="0"/>
                            <a:cs typeface="Times New Roman" panose="02020603050405020304" pitchFamily="18" charset="0"/>
                          </a:rPr>
                          <m:t>𝑎</m:t>
                        </m:r>
                      </m:num>
                      <m:den>
                        <m:rad>
                          <m:radPr>
                            <m:degHide m:val="on"/>
                            <m:ctrlPr>
                              <a:rPr lang="en-IN" sz="4000" i="1">
                                <a:effectLst/>
                                <a:latin typeface="Cambria Math" panose="02040503050406030204" pitchFamily="18" charset="0"/>
                                <a:ea typeface="Calibri" panose="020F0502020204030204" pitchFamily="34" charset="0"/>
                                <a:cs typeface="Times New Roman" panose="02020603050405020304" pitchFamily="18" charset="0"/>
                              </a:rPr>
                            </m:ctrlPr>
                          </m:radPr>
                          <m:deg/>
                          <m:e>
                            <m:sSup>
                              <m:sSupPr>
                                <m:ctrlPr>
                                  <a:rPr lang="en-IN" sz="4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4000" i="1">
                                    <a:effectLst/>
                                    <a:latin typeface="Cambria Math" panose="02040503050406030204" pitchFamily="18" charset="0"/>
                                    <a:ea typeface="Calibri" panose="020F0502020204030204" pitchFamily="34" charset="0"/>
                                    <a:cs typeface="Times New Roman" panose="02020603050405020304" pitchFamily="18" charset="0"/>
                                  </a:rPr>
                                  <m:t>h</m:t>
                                </m:r>
                              </m:e>
                              <m:sup>
                                <m:r>
                                  <a:rPr lang="en-US" sz="40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40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4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4000" i="1">
                                    <a:effectLst/>
                                    <a:latin typeface="Cambria Math" panose="02040503050406030204" pitchFamily="18" charset="0"/>
                                    <a:ea typeface="Calibri" panose="020F0502020204030204" pitchFamily="34" charset="0"/>
                                    <a:cs typeface="Times New Roman" panose="02020603050405020304" pitchFamily="18" charset="0"/>
                                  </a:rPr>
                                  <m:t>𝑘</m:t>
                                </m:r>
                              </m:e>
                              <m:sup>
                                <m:r>
                                  <a:rPr lang="en-US" sz="40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40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4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4000" i="1">
                                    <a:effectLst/>
                                    <a:latin typeface="Cambria Math" panose="02040503050406030204" pitchFamily="18" charset="0"/>
                                    <a:ea typeface="Calibri" panose="020F0502020204030204" pitchFamily="34" charset="0"/>
                                    <a:cs typeface="Times New Roman" panose="02020603050405020304" pitchFamily="18" charset="0"/>
                                  </a:rPr>
                                  <m:t>𝑙</m:t>
                                </m:r>
                              </m:e>
                              <m:sup>
                                <m:r>
                                  <a:rPr lang="en-US" sz="4000" i="1">
                                    <a:effectLst/>
                                    <a:latin typeface="Cambria Math" panose="02040503050406030204" pitchFamily="18" charset="0"/>
                                    <a:ea typeface="Calibri" panose="020F0502020204030204" pitchFamily="34" charset="0"/>
                                    <a:cs typeface="Times New Roman" panose="02020603050405020304" pitchFamily="18" charset="0"/>
                                  </a:rPr>
                                  <m:t>2</m:t>
                                </m:r>
                              </m:sup>
                            </m:sSup>
                          </m:e>
                        </m:rad>
                      </m:den>
                    </m:f>
                  </m:oMath>
                </a14:m>
                <a:r>
                  <a:rPr lang="en-US" sz="4000" dirty="0">
                    <a:effectLst/>
                    <a:latin typeface="Cambria" panose="02040503050406030204" pitchFamily="18" charset="0"/>
                    <a:ea typeface="Times New Roman" panose="02020603050405020304" pitchFamily="18" charset="0"/>
                    <a:cs typeface="Times New Roman" panose="02020603050405020304" pitchFamily="18" charset="0"/>
                  </a:rPr>
                  <a:t>   , r=</a:t>
                </a:r>
                <a14:m>
                  <m:oMath xmlns:m="http://schemas.openxmlformats.org/officeDocument/2006/math">
                    <m:f>
                      <m:fPr>
                        <m:ctrlPr>
                          <a:rPr lang="en-IN" sz="4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𝑎</m:t>
                        </m:r>
                      </m:num>
                      <m:den>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2</m:t>
                        </m:r>
                        <m:rad>
                          <m:radPr>
                            <m:degHide m:val="on"/>
                            <m:ctrlPr>
                              <a:rPr lang="en-IN" sz="4000" i="1">
                                <a:effectLst/>
                                <a:latin typeface="Cambria Math" panose="02040503050406030204" pitchFamily="18" charset="0"/>
                                <a:ea typeface="Times New Roman" panose="02020603050405020304" pitchFamily="18" charset="0"/>
                                <a:cs typeface="Times New Roman" panose="02020603050405020304" pitchFamily="18" charset="0"/>
                              </a:rPr>
                            </m:ctrlPr>
                          </m:radPr>
                          <m:deg/>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2</m:t>
                            </m:r>
                          </m:e>
                        </m:rad>
                      </m:den>
                    </m:f>
                  </m:oMath>
                </a14:m>
                <a:r>
                  <a:rPr lang="en-US" sz="4000" dirty="0">
                    <a:effectLst/>
                    <a:latin typeface="Cambria" panose="02040503050406030204" pitchFamily="18" charset="0"/>
                    <a:ea typeface="Times New Roman" panose="02020603050405020304" pitchFamily="18" charset="0"/>
                    <a:cs typeface="Times New Roman" panose="02020603050405020304" pitchFamily="18" charset="0"/>
                  </a:rPr>
                  <a:t>  ,  ρ=</a:t>
                </a:r>
                <a14:m>
                  <m:oMath xmlns:m="http://schemas.openxmlformats.org/officeDocument/2006/math">
                    <m:f>
                      <m:fPr>
                        <m:ctrlPr>
                          <a:rPr lang="en-IN" sz="4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𝑛𝑀</m:t>
                        </m:r>
                      </m:num>
                      <m:den>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𝑁</m:t>
                        </m:r>
                        <m:sSup>
                          <m:sSupPr>
                            <m:ctrlPr>
                              <a:rPr lang="en-IN" sz="4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𝑎</m:t>
                            </m:r>
                          </m:e>
                          <m:sup>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3</m:t>
                            </m:r>
                          </m:sup>
                        </m:sSup>
                      </m:den>
                    </m:f>
                  </m:oMath>
                </a14:m>
                <a:endParaRPr lang="en-IN" sz="40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spcAft>
                    <a:spcPts val="1000"/>
                  </a:spcAft>
                </a:pPr>
                <a:r>
                  <a:rPr lang="en-US" sz="4000" b="1" u="sng" dirty="0">
                    <a:effectLst/>
                    <a:latin typeface="Cambria" panose="02040503050406030204" pitchFamily="18" charset="0"/>
                    <a:ea typeface="Times New Roman" panose="02020603050405020304" pitchFamily="18" charset="0"/>
                    <a:cs typeface="Times New Roman" panose="02020603050405020304" pitchFamily="18" charset="0"/>
                  </a:rPr>
                  <a:t>Solution: -</a:t>
                </a:r>
                <a:endParaRPr lang="en-IN" sz="4000" dirty="0">
                  <a:effectLst/>
                  <a:latin typeface="Calibri" panose="020F0502020204030204" pitchFamily="34" charset="0"/>
                  <a:ea typeface="Calibri" panose="020F0502020204030204" pitchFamily="34" charset="0"/>
                  <a:cs typeface="Mangal" panose="02040503050203030202" pitchFamily="18" charset="0"/>
                </a:endParaRPr>
              </a:p>
              <a:p>
                <a:pPr marL="457200" indent="457200">
                  <a:lnSpc>
                    <a:spcPct val="115000"/>
                  </a:lnSpc>
                  <a:spcAft>
                    <a:spcPts val="1000"/>
                  </a:spcAft>
                </a:pPr>
                <a:r>
                  <a:rPr lang="en-US" sz="4000" dirty="0">
                    <a:effectLst/>
                    <a:latin typeface="Cambria" panose="02040503050406030204" pitchFamily="18" charset="0"/>
                    <a:ea typeface="Times New Roman" panose="02020603050405020304" pitchFamily="18" charset="0"/>
                    <a:cs typeface="Times New Roman" panose="02020603050405020304" pitchFamily="18" charset="0"/>
                  </a:rPr>
                  <a:t> a=d</a:t>
                </a:r>
                <a:r>
                  <a:rPr lang="en-US" sz="4000" baseline="-25000" dirty="0">
                    <a:effectLst/>
                    <a:latin typeface="Cambria" panose="02040503050406030204" pitchFamily="18" charset="0"/>
                    <a:ea typeface="Times New Roman" panose="02020603050405020304" pitchFamily="18" charset="0"/>
                    <a:cs typeface="Times New Roman" panose="02020603050405020304" pitchFamily="18" charset="0"/>
                  </a:rPr>
                  <a:t>111</a:t>
                </a:r>
                <a14:m>
                  <m:oMath xmlns:m="http://schemas.openxmlformats.org/officeDocument/2006/math">
                    <m:rad>
                      <m:radPr>
                        <m:degHide m:val="on"/>
                        <m:ctrlPr>
                          <a:rPr lang="en-IN" sz="4000" i="1">
                            <a:effectLst/>
                            <a:latin typeface="Cambria Math" panose="02040503050406030204" pitchFamily="18" charset="0"/>
                            <a:ea typeface="Calibri" panose="020F0502020204030204" pitchFamily="34" charset="0"/>
                            <a:cs typeface="Times New Roman" panose="02020603050405020304" pitchFamily="18" charset="0"/>
                          </a:rPr>
                        </m:ctrlPr>
                      </m:radPr>
                      <m:deg/>
                      <m:e>
                        <m:sSup>
                          <m:sSupPr>
                            <m:ctrlPr>
                              <a:rPr lang="en-IN" sz="4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4000" i="1">
                                <a:effectLst/>
                                <a:latin typeface="Cambria Math" panose="02040503050406030204" pitchFamily="18" charset="0"/>
                                <a:ea typeface="Calibri" panose="020F0502020204030204" pitchFamily="34" charset="0"/>
                                <a:cs typeface="Times New Roman" panose="02020603050405020304" pitchFamily="18" charset="0"/>
                              </a:rPr>
                              <m:t>1</m:t>
                            </m:r>
                          </m:e>
                          <m:sup>
                            <m:r>
                              <a:rPr lang="en-US" sz="40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40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4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4000" i="1">
                                <a:effectLst/>
                                <a:latin typeface="Cambria Math" panose="02040503050406030204" pitchFamily="18" charset="0"/>
                                <a:ea typeface="Calibri" panose="020F0502020204030204" pitchFamily="34" charset="0"/>
                                <a:cs typeface="Times New Roman" panose="02020603050405020304" pitchFamily="18" charset="0"/>
                              </a:rPr>
                              <m:t>1</m:t>
                            </m:r>
                          </m:e>
                          <m:sup>
                            <m:r>
                              <a:rPr lang="en-US" sz="40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40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4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4000" i="1">
                                <a:effectLst/>
                                <a:latin typeface="Cambria Math" panose="02040503050406030204" pitchFamily="18" charset="0"/>
                                <a:ea typeface="Calibri" panose="020F0502020204030204" pitchFamily="34" charset="0"/>
                                <a:cs typeface="Times New Roman" panose="02020603050405020304" pitchFamily="18" charset="0"/>
                              </a:rPr>
                              <m:t>1</m:t>
                            </m:r>
                          </m:e>
                          <m:sup>
                            <m:r>
                              <a:rPr lang="en-US" sz="4000" i="1">
                                <a:effectLst/>
                                <a:latin typeface="Cambria Math" panose="02040503050406030204" pitchFamily="18" charset="0"/>
                                <a:ea typeface="Calibri" panose="020F0502020204030204" pitchFamily="34" charset="0"/>
                                <a:cs typeface="Times New Roman" panose="02020603050405020304" pitchFamily="18" charset="0"/>
                              </a:rPr>
                              <m:t>2</m:t>
                            </m:r>
                          </m:sup>
                        </m:sSup>
                      </m:e>
                    </m:rad>
                  </m:oMath>
                </a14:m>
                <a:r>
                  <a:rPr lang="en-US" sz="4000" dirty="0">
                    <a:effectLst/>
                    <a:latin typeface="Cambria" panose="02040503050406030204" pitchFamily="18" charset="0"/>
                    <a:ea typeface="Times New Roman" panose="02020603050405020304" pitchFamily="18" charset="0"/>
                    <a:cs typeface="Times New Roman" panose="02020603050405020304" pitchFamily="18" charset="0"/>
                  </a:rPr>
                  <a:t>=2.08 x 10</a:t>
                </a:r>
                <a:r>
                  <a:rPr lang="en-US" sz="4000" baseline="30000" dirty="0">
                    <a:effectLst/>
                    <a:latin typeface="Cambria" panose="02040503050406030204" pitchFamily="18" charset="0"/>
                    <a:ea typeface="Times New Roman" panose="02020603050405020304" pitchFamily="18" charset="0"/>
                    <a:cs typeface="Times New Roman" panose="02020603050405020304" pitchFamily="18" charset="0"/>
                  </a:rPr>
                  <a:t>-10 </a:t>
                </a:r>
                <a:r>
                  <a:rPr lang="en-US" sz="4000" dirty="0">
                    <a:effectLst/>
                    <a:latin typeface="Cambria" panose="02040503050406030204" pitchFamily="18" charset="0"/>
                    <a:ea typeface="Times New Roman" panose="02020603050405020304" pitchFamily="18" charset="0"/>
                    <a:cs typeface="Times New Roman" panose="02020603050405020304" pitchFamily="18" charset="0"/>
                  </a:rPr>
                  <a:t>x </a:t>
                </a:r>
                <a14:m>
                  <m:oMath xmlns:m="http://schemas.openxmlformats.org/officeDocument/2006/math">
                    <m:rad>
                      <m:radPr>
                        <m:degHide m:val="on"/>
                        <m:ctrlPr>
                          <a:rPr lang="en-IN" sz="4000" i="1">
                            <a:effectLst/>
                            <a:latin typeface="Cambria Math" panose="02040503050406030204" pitchFamily="18" charset="0"/>
                            <a:ea typeface="Times New Roman" panose="02020603050405020304" pitchFamily="18" charset="0"/>
                            <a:cs typeface="Times New Roman" panose="02020603050405020304" pitchFamily="18" charset="0"/>
                          </a:rPr>
                        </m:ctrlPr>
                      </m:radPr>
                      <m:deg/>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3</m:t>
                        </m:r>
                      </m:e>
                    </m:rad>
                  </m:oMath>
                </a14:m>
                <a:r>
                  <a:rPr lang="en-US" sz="4000" dirty="0">
                    <a:effectLst/>
                    <a:latin typeface="Cambria" panose="02040503050406030204" pitchFamily="18" charset="0"/>
                    <a:ea typeface="Times New Roman" panose="02020603050405020304" pitchFamily="18" charset="0"/>
                    <a:cs typeface="Times New Roman" panose="02020603050405020304" pitchFamily="18" charset="0"/>
                  </a:rPr>
                  <a:t>= 3.6A</a:t>
                </a:r>
                <a:r>
                  <a:rPr lang="en-US" sz="4000" baseline="30000" dirty="0">
                    <a:effectLst/>
                    <a:latin typeface="Cambria" panose="02040503050406030204" pitchFamily="18" charset="0"/>
                    <a:ea typeface="Times New Roman" panose="02020603050405020304" pitchFamily="18" charset="0"/>
                    <a:cs typeface="Times New Roman" panose="02020603050405020304" pitchFamily="18" charset="0"/>
                  </a:rPr>
                  <a:t>0</a:t>
                </a:r>
                <a:endParaRPr lang="en-IN" sz="4000" dirty="0">
                  <a:effectLst/>
                  <a:latin typeface="Calibri" panose="020F0502020204030204" pitchFamily="34" charset="0"/>
                  <a:ea typeface="Calibri" panose="020F0502020204030204" pitchFamily="34" charset="0"/>
                  <a:cs typeface="Mangal" panose="02040503050203030202" pitchFamily="18" charset="0"/>
                </a:endParaRPr>
              </a:p>
              <a:p>
                <a:pPr marL="457200" indent="457200">
                  <a:lnSpc>
                    <a:spcPct val="115000"/>
                  </a:lnSpc>
                  <a:spcAft>
                    <a:spcPts val="1000"/>
                  </a:spcAft>
                </a:pPr>
                <a:r>
                  <a:rPr lang="en-US" sz="4000" dirty="0">
                    <a:effectLst/>
                    <a:latin typeface="Cambria" panose="02040503050406030204" pitchFamily="18" charset="0"/>
                    <a:ea typeface="Times New Roman" panose="02020603050405020304" pitchFamily="18" charset="0"/>
                    <a:cs typeface="Times New Roman" panose="02020603050405020304" pitchFamily="18" charset="0"/>
                  </a:rPr>
                  <a:t>ρ=</a:t>
                </a:r>
                <a14:m>
                  <m:oMath xmlns:m="http://schemas.openxmlformats.org/officeDocument/2006/math">
                    <m:f>
                      <m:fPr>
                        <m:ctrlPr>
                          <a:rPr lang="en-IN" sz="4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4</m:t>
                        </m:r>
                        <m:r>
                          <m:rPr>
                            <m:sty m:val="p"/>
                          </m:rPr>
                          <a:rPr lang="en-US" sz="4000">
                            <a:effectLst/>
                            <a:latin typeface="Cambria Math" panose="02040503050406030204" pitchFamily="18" charset="0"/>
                            <a:ea typeface="Times New Roman" panose="02020603050405020304" pitchFamily="18" charset="0"/>
                            <a:cs typeface="Times New Roman" panose="02020603050405020304" pitchFamily="18" charset="0"/>
                          </a:rPr>
                          <m:t>x</m:t>
                        </m:r>
                        <m:r>
                          <a:rPr lang="en-US" sz="4000">
                            <a:effectLst/>
                            <a:latin typeface="Cambria Math" panose="02040503050406030204" pitchFamily="18" charset="0"/>
                            <a:ea typeface="Times New Roman" panose="02020603050405020304" pitchFamily="18" charset="0"/>
                            <a:cs typeface="Times New Roman" panose="02020603050405020304" pitchFamily="18" charset="0"/>
                          </a:rPr>
                          <m:t>63.54</m:t>
                        </m:r>
                      </m:num>
                      <m:den>
                        <m:r>
                          <a:rPr lang="en-US" sz="4000">
                            <a:effectLst/>
                            <a:latin typeface="Cambria Math" panose="02040503050406030204" pitchFamily="18" charset="0"/>
                            <a:ea typeface="Times New Roman" panose="02020603050405020304" pitchFamily="18" charset="0"/>
                            <a:cs typeface="Times New Roman" panose="02020603050405020304" pitchFamily="18" charset="0"/>
                          </a:rPr>
                          <m:t>6.023</m:t>
                        </m:r>
                        <m:r>
                          <m:rPr>
                            <m:sty m:val="p"/>
                          </m:rPr>
                          <a:rPr lang="en-US" sz="4000">
                            <a:effectLst/>
                            <a:latin typeface="Cambria Math" panose="02040503050406030204" pitchFamily="18" charset="0"/>
                            <a:ea typeface="Times New Roman" panose="02020603050405020304" pitchFamily="18" charset="0"/>
                            <a:cs typeface="Times New Roman" panose="02020603050405020304" pitchFamily="18" charset="0"/>
                          </a:rPr>
                          <m:t>x</m:t>
                        </m:r>
                        <m:sSup>
                          <m:sSupPr>
                            <m:ctrlPr>
                              <a:rPr lang="en-IN" sz="4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26</m:t>
                            </m:r>
                          </m:sup>
                        </m:sSup>
                        <m:sSup>
                          <m:sSupPr>
                            <m:ctrlPr>
                              <a:rPr lang="en-IN" sz="4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(3.6</m:t>
                            </m:r>
                            <m:r>
                              <m:rPr>
                                <m:sty m:val="p"/>
                              </m:rPr>
                              <a:rPr lang="en-US" sz="4000">
                                <a:effectLst/>
                                <a:latin typeface="Cambria Math" panose="02040503050406030204" pitchFamily="18" charset="0"/>
                                <a:ea typeface="Times New Roman" panose="02020603050405020304" pitchFamily="18" charset="0"/>
                                <a:cs typeface="Times New Roman" panose="02020603050405020304" pitchFamily="18" charset="0"/>
                              </a:rPr>
                              <m:t>x</m:t>
                            </m:r>
                            <m:sSup>
                              <m:sSupPr>
                                <m:ctrlPr>
                                  <a:rPr lang="en-IN" sz="4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−10</m:t>
                                </m:r>
                              </m:sup>
                            </m:sSup>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 )</m:t>
                            </m:r>
                          </m:e>
                          <m:sup>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3</m:t>
                            </m:r>
                          </m:sup>
                        </m:sSup>
                      </m:den>
                    </m:f>
                  </m:oMath>
                </a14:m>
                <a:r>
                  <a:rPr lang="en-US" sz="4000" dirty="0">
                    <a:effectLst/>
                    <a:latin typeface="Cambria" panose="02040503050406030204" pitchFamily="18" charset="0"/>
                    <a:ea typeface="Times New Roman" panose="02020603050405020304" pitchFamily="18" charset="0"/>
                    <a:cs typeface="Times New Roman" panose="02020603050405020304" pitchFamily="18" charset="0"/>
                  </a:rPr>
                  <a:t>=9044.547 kg/m</a:t>
                </a:r>
                <a:r>
                  <a:rPr lang="en-US" sz="4000" baseline="30000" dirty="0">
                    <a:effectLst/>
                    <a:latin typeface="Cambria" panose="02040503050406030204" pitchFamily="18" charset="0"/>
                    <a:ea typeface="Times New Roman" panose="02020603050405020304" pitchFamily="18" charset="0"/>
                    <a:cs typeface="Times New Roman" panose="02020603050405020304" pitchFamily="18" charset="0"/>
                  </a:rPr>
                  <a:t>3</a:t>
                </a:r>
                <a:endParaRPr lang="en-IN" sz="4000" dirty="0">
                  <a:effectLst/>
                  <a:latin typeface="Calibri" panose="020F0502020204030204" pitchFamily="34" charset="0"/>
                  <a:ea typeface="Calibri" panose="020F0502020204030204" pitchFamily="34" charset="0"/>
                  <a:cs typeface="Mangal" panose="02040503050203030202" pitchFamily="18" charset="0"/>
                </a:endParaRPr>
              </a:p>
              <a:p>
                <a:pPr marL="457200" indent="457200">
                  <a:lnSpc>
                    <a:spcPct val="115000"/>
                  </a:lnSpc>
                  <a:spcAft>
                    <a:spcPts val="1000"/>
                  </a:spcAft>
                </a:pPr>
                <a:r>
                  <a:rPr lang="en-US" sz="4000" dirty="0">
                    <a:effectLst/>
                    <a:latin typeface="Cambria" panose="02040503050406030204" pitchFamily="18" charset="0"/>
                    <a:ea typeface="Times New Roman" panose="02020603050405020304" pitchFamily="18" charset="0"/>
                    <a:cs typeface="Times New Roman" panose="02020603050405020304" pitchFamily="18" charset="0"/>
                  </a:rPr>
                  <a:t>r=</a:t>
                </a:r>
                <a14:m>
                  <m:oMath xmlns:m="http://schemas.openxmlformats.org/officeDocument/2006/math">
                    <m:f>
                      <m:fPr>
                        <m:ctrlPr>
                          <a:rPr lang="en-IN" sz="4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𝑎</m:t>
                        </m:r>
                      </m:num>
                      <m:den>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2</m:t>
                        </m:r>
                        <m:rad>
                          <m:radPr>
                            <m:degHide m:val="on"/>
                            <m:ctrlPr>
                              <a:rPr lang="en-IN" sz="4000" i="1">
                                <a:effectLst/>
                                <a:latin typeface="Cambria Math" panose="02040503050406030204" pitchFamily="18" charset="0"/>
                                <a:ea typeface="Times New Roman" panose="02020603050405020304" pitchFamily="18" charset="0"/>
                                <a:cs typeface="Times New Roman" panose="02020603050405020304" pitchFamily="18" charset="0"/>
                              </a:rPr>
                            </m:ctrlPr>
                          </m:radPr>
                          <m:deg/>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2</m:t>
                            </m:r>
                          </m:e>
                        </m:rad>
                      </m:den>
                    </m:f>
                  </m:oMath>
                </a14:m>
                <a:r>
                  <a:rPr lang="en-US" sz="4000" dirty="0">
                    <a:effectLst/>
                    <a:latin typeface="Cambria" panose="02040503050406030204" pitchFamily="18" charset="0"/>
                    <a:ea typeface="Times New Roman" panose="02020603050405020304" pitchFamily="18" charset="0"/>
                    <a:cs typeface="Times New Roman" panose="02020603050405020304" pitchFamily="18" charset="0"/>
                  </a:rPr>
                  <a:t>=</a:t>
                </a:r>
                <a14:m>
                  <m:oMath xmlns:m="http://schemas.openxmlformats.org/officeDocument/2006/math">
                    <m:f>
                      <m:fPr>
                        <m:ctrlPr>
                          <a:rPr lang="en-IN" sz="4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40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t>3.6</m:t>
                        </m:r>
                      </m:num>
                      <m:den>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2</m:t>
                        </m:r>
                        <m:rad>
                          <m:radPr>
                            <m:degHide m:val="on"/>
                            <m:ctrlPr>
                              <a:rPr lang="en-IN" sz="4000" i="1">
                                <a:effectLst/>
                                <a:latin typeface="Cambria Math" panose="02040503050406030204" pitchFamily="18" charset="0"/>
                                <a:ea typeface="Times New Roman" panose="02020603050405020304" pitchFamily="18" charset="0"/>
                                <a:cs typeface="Times New Roman" panose="02020603050405020304" pitchFamily="18" charset="0"/>
                              </a:rPr>
                            </m:ctrlPr>
                          </m:radPr>
                          <m:deg/>
                          <m:e>
                            <m:r>
                              <a:rPr lang="en-US" sz="4000" i="1">
                                <a:effectLst/>
                                <a:latin typeface="Cambria Math" panose="02040503050406030204" pitchFamily="18" charset="0"/>
                                <a:ea typeface="Times New Roman" panose="02020603050405020304" pitchFamily="18" charset="0"/>
                                <a:cs typeface="Times New Roman" panose="02020603050405020304" pitchFamily="18" charset="0"/>
                              </a:rPr>
                              <m:t>2</m:t>
                            </m:r>
                          </m:e>
                        </m:rad>
                      </m:den>
                    </m:f>
                  </m:oMath>
                </a14:m>
                <a:r>
                  <a:rPr lang="en-US" sz="4000" dirty="0">
                    <a:effectLst/>
                    <a:latin typeface="Cambria" panose="02040503050406030204" pitchFamily="18" charset="0"/>
                    <a:ea typeface="Times New Roman" panose="02020603050405020304" pitchFamily="18" charset="0"/>
                    <a:cs typeface="Times New Roman" panose="02020603050405020304" pitchFamily="18" charset="0"/>
                  </a:rPr>
                  <a:t>=1.273 A</a:t>
                </a:r>
                <a:r>
                  <a:rPr lang="en-US" sz="4000" baseline="30000" dirty="0">
                    <a:effectLst/>
                    <a:latin typeface="Cambria" panose="02040503050406030204" pitchFamily="18" charset="0"/>
                    <a:ea typeface="Times New Roman" panose="02020603050405020304" pitchFamily="18" charset="0"/>
                    <a:cs typeface="Times New Roman" panose="02020603050405020304" pitchFamily="18" charset="0"/>
                  </a:rPr>
                  <a:t>0</a:t>
                </a:r>
                <a:endParaRPr lang="en-IN" sz="40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4000" dirty="0">
                    <a:effectLst/>
                    <a:latin typeface="Cambria" panose="02040503050406030204" pitchFamily="18" charset="0"/>
                    <a:ea typeface="Times New Roman" panose="02020603050405020304" pitchFamily="18" charset="0"/>
                    <a:cs typeface="Times New Roman" panose="02020603050405020304" pitchFamily="18" charset="0"/>
                  </a:rPr>
                  <a:t>		</a:t>
                </a:r>
                <a:r>
                  <a:rPr lang="en-US" sz="4000" dirty="0">
                    <a:effectLst/>
                    <a:latin typeface="Cambria" panose="02040503050406030204" pitchFamily="18" charset="0"/>
                    <a:ea typeface="Times New Roman" panose="02020603050405020304" pitchFamily="18" charset="0"/>
                    <a:cs typeface="Cambria Math" panose="02040503050406030204" pitchFamily="18" charset="0"/>
                  </a:rPr>
                  <a:t>∴</a:t>
                </a:r>
                <a:r>
                  <a:rPr lang="en-US" sz="4000" dirty="0">
                    <a:effectLst/>
                    <a:latin typeface="Cambria" panose="02040503050406030204" pitchFamily="18" charset="0"/>
                    <a:ea typeface="Times New Roman" panose="02020603050405020304" pitchFamily="18" charset="0"/>
                    <a:cs typeface="Times New Roman" panose="02020603050405020304" pitchFamily="18" charset="0"/>
                  </a:rPr>
                  <a:t> </a:t>
                </a:r>
                <a:r>
                  <a:rPr lang="en-US" sz="4000" dirty="0">
                    <a:effectLst/>
                    <a:highlight>
                      <a:srgbClr val="FFFF00"/>
                    </a:highlight>
                    <a:latin typeface="Cambria" panose="02040503050406030204" pitchFamily="18" charset="0"/>
                    <a:ea typeface="Times New Roman" panose="02020603050405020304" pitchFamily="18" charset="0"/>
                    <a:cs typeface="Times New Roman" panose="02020603050405020304" pitchFamily="18" charset="0"/>
                  </a:rPr>
                  <a:t>d=2.546 A</a:t>
                </a:r>
                <a:r>
                  <a:rPr lang="en-US" sz="4000" baseline="30000" dirty="0">
                    <a:effectLst/>
                    <a:highlight>
                      <a:srgbClr val="FFFF00"/>
                    </a:highlight>
                    <a:latin typeface="Cambria" panose="02040503050406030204" pitchFamily="18" charset="0"/>
                    <a:ea typeface="Times New Roman" panose="02020603050405020304" pitchFamily="18" charset="0"/>
                    <a:cs typeface="Times New Roman" panose="02020603050405020304" pitchFamily="18" charset="0"/>
                  </a:rPr>
                  <a:t>0</a:t>
                </a:r>
                <a:endParaRPr lang="en-IN" sz="40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4000" dirty="0">
                    <a:effectLst/>
                    <a:latin typeface="Cambria" panose="02040503050406030204" pitchFamily="18" charset="0"/>
                    <a:ea typeface="Times New Roman" panose="02020603050405020304" pitchFamily="18" charset="0"/>
                    <a:cs typeface="Times New Roman" panose="02020603050405020304" pitchFamily="18" charset="0"/>
                  </a:rPr>
                  <a:t>	</a:t>
                </a:r>
                <a:r>
                  <a:rPr lang="en-US" sz="4000" b="1" u="sng" dirty="0">
                    <a:effectLst/>
                    <a:latin typeface="Cambria" panose="02040503050406030204" pitchFamily="18" charset="0"/>
                    <a:ea typeface="Times New Roman" panose="02020603050405020304" pitchFamily="18" charset="0"/>
                    <a:cs typeface="Times New Roman" panose="02020603050405020304" pitchFamily="18" charset="0"/>
                  </a:rPr>
                  <a:t>Ans: -</a:t>
                </a:r>
                <a:r>
                  <a:rPr lang="en-US" sz="4000" u="sng" dirty="0">
                    <a:effectLst/>
                    <a:latin typeface="Cambria" panose="02040503050406030204" pitchFamily="18" charset="0"/>
                    <a:ea typeface="Times New Roman" panose="02020603050405020304" pitchFamily="18" charset="0"/>
                    <a:cs typeface="Times New Roman" panose="02020603050405020304" pitchFamily="18" charset="0"/>
                  </a:rPr>
                  <a:t> density is 9044.547 kg/m</a:t>
                </a:r>
                <a:r>
                  <a:rPr lang="en-US" sz="4000" u="sng" baseline="30000" dirty="0">
                    <a:effectLst/>
                    <a:latin typeface="Cambria" panose="02040503050406030204" pitchFamily="18" charset="0"/>
                    <a:ea typeface="Times New Roman" panose="02020603050405020304" pitchFamily="18" charset="0"/>
                    <a:cs typeface="Times New Roman" panose="02020603050405020304" pitchFamily="18" charset="0"/>
                  </a:rPr>
                  <a:t>3 </a:t>
                </a:r>
                <a:r>
                  <a:rPr lang="en-US" sz="4000" u="sng" dirty="0">
                    <a:effectLst/>
                    <a:latin typeface="Cambria" panose="02040503050406030204" pitchFamily="18" charset="0"/>
                    <a:ea typeface="Times New Roman" panose="02020603050405020304" pitchFamily="18" charset="0"/>
                    <a:cs typeface="Times New Roman" panose="02020603050405020304" pitchFamily="18" charset="0"/>
                  </a:rPr>
                  <a:t>and diameter is </a:t>
                </a:r>
                <a:r>
                  <a:rPr lang="en-US" sz="4000" u="sng" dirty="0">
                    <a:effectLst/>
                    <a:highlight>
                      <a:srgbClr val="FFFF00"/>
                    </a:highlight>
                    <a:latin typeface="Cambria" panose="02040503050406030204" pitchFamily="18" charset="0"/>
                    <a:ea typeface="Times New Roman" panose="02020603050405020304" pitchFamily="18" charset="0"/>
                    <a:cs typeface="Times New Roman" panose="02020603050405020304" pitchFamily="18" charset="0"/>
                  </a:rPr>
                  <a:t>2.546</a:t>
                </a:r>
                <a:r>
                  <a:rPr lang="en-US" sz="4000" u="sng" dirty="0">
                    <a:effectLst/>
                    <a:latin typeface="Cambria" panose="02040503050406030204" pitchFamily="18" charset="0"/>
                    <a:ea typeface="Times New Roman" panose="02020603050405020304" pitchFamily="18" charset="0"/>
                    <a:cs typeface="Times New Roman" panose="02020603050405020304" pitchFamily="18" charset="0"/>
                  </a:rPr>
                  <a:t> A</a:t>
                </a:r>
                <a:r>
                  <a:rPr lang="en-US" sz="4000" u="sng" baseline="30000" dirty="0">
                    <a:effectLst/>
                    <a:latin typeface="Cambria" panose="02040503050406030204" pitchFamily="18" charset="0"/>
                    <a:ea typeface="Times New Roman" panose="02020603050405020304" pitchFamily="18" charset="0"/>
                    <a:cs typeface="Times New Roman" panose="02020603050405020304" pitchFamily="18" charset="0"/>
                  </a:rPr>
                  <a:t>0</a:t>
                </a:r>
                <a:endParaRPr lang="en-IN" sz="40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mc:Choice>
        <mc:Fallback>
          <p:sp>
            <p:nvSpPr>
              <p:cNvPr id="3" name="Content Placeholder 2">
                <a:extLst>
                  <a:ext uri="{FF2B5EF4-FFF2-40B4-BE49-F238E27FC236}">
                    <a16:creationId xmlns:a16="http://schemas.microsoft.com/office/drawing/2014/main" id="{F86B7EB4-56A1-4DFA-B9B0-C9E0ABBE6F10}"/>
                  </a:ext>
                </a:extLst>
              </p:cNvPr>
              <p:cNvSpPr>
                <a:spLocks noGrp="1" noRot="1" noChangeAspect="1" noMove="1" noResize="1" noEditPoints="1" noAdjustHandles="1" noChangeArrowheads="1" noChangeShapeType="1" noTextEdit="1"/>
              </p:cNvSpPr>
              <p:nvPr>
                <p:ph idx="1"/>
              </p:nvPr>
            </p:nvSpPr>
            <p:spPr>
              <a:xfrm>
                <a:off x="838200" y="1250302"/>
                <a:ext cx="10515600" cy="4926661"/>
              </a:xfrm>
              <a:blipFill>
                <a:blip r:embed="rId2"/>
                <a:stretch>
                  <a:fillRect l="-232" t="-866"/>
                </a:stretch>
              </a:blipFill>
            </p:spPr>
            <p:txBody>
              <a:bodyPr/>
              <a:lstStyle/>
              <a:p>
                <a:r>
                  <a:rPr lang="en-IN">
                    <a:noFill/>
                  </a:rPr>
                  <a:t> </a:t>
                </a:r>
              </a:p>
            </p:txBody>
          </p:sp>
        </mc:Fallback>
      </mc:AlternateContent>
    </p:spTree>
    <p:extLst>
      <p:ext uri="{BB962C8B-B14F-4D97-AF65-F5344CB8AC3E}">
        <p14:creationId xmlns:p14="http://schemas.microsoft.com/office/powerpoint/2010/main" val="2145560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218A5991-2959-4D58-8277-5402E93B2C44}"/>
                  </a:ext>
                </a:extLst>
              </p:cNvPr>
              <p:cNvSpPr>
                <a:spLocks noGrp="1"/>
              </p:cNvSpPr>
              <p:nvPr>
                <p:ph type="title"/>
              </p:nvPr>
            </p:nvSpPr>
            <p:spPr>
              <a:xfrm>
                <a:off x="838200" y="365125"/>
                <a:ext cx="10515600" cy="1109111"/>
              </a:xfrm>
            </p:spPr>
            <p:txBody>
              <a:bodyPr>
                <a:normAutofit fontScale="90000"/>
              </a:bodyPr>
              <a:lstStyle/>
              <a:p>
                <a:r>
                  <a:rPr lang="en-IN" sz="1800" b="1"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Q3.</a:t>
                </a:r>
                <a:r>
                  <a:rPr lang="en-IN" sz="1800"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If the X ray of wavelength </a:t>
                </a:r>
                <a14:m>
                  <m:oMath xmlns:m="http://schemas.openxmlformats.org/officeDocument/2006/math">
                    <m:sSup>
                      <m:sSupPr>
                        <m:ctrlPr>
                          <a:rPr lang="en-IN"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ctrlPr>
                      </m:sSupPr>
                      <m:e>
                        <m:r>
                          <a:rPr lang="en-IN"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1.549</m:t>
                        </m:r>
                        <m:r>
                          <a:rPr lang="en-IN"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𝐴</m:t>
                        </m:r>
                      </m:e>
                      <m:sup>
                        <m:r>
                          <a:rPr lang="en-IN"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0</m:t>
                        </m:r>
                      </m:sup>
                    </m:sSup>
                    <m:r>
                      <a:rPr lang="en-US"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800"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will be reflected from the crystal with interplanar spacing  4.255 </a:t>
                </a:r>
                <a14:m>
                  <m:oMath xmlns:m="http://schemas.openxmlformats.org/officeDocument/2006/math">
                    <m:sSup>
                      <m:sSupPr>
                        <m:ctrlPr>
                          <a:rPr lang="en-IN"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𝐴</m:t>
                        </m:r>
                      </m:e>
                      <m:sup>
                        <m:r>
                          <a:rPr lang="en-US"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0</m:t>
                        </m:r>
                      </m:sup>
                    </m:sSup>
                  </m:oMath>
                </a14:m>
                <a:r>
                  <a:rPr lang="en-US" sz="1800"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.Calculate the smallest glancing angle and the highest order of reflection that can be observe</a:t>
                </a:r>
                <a:br>
                  <a:rPr lang="en-IN" sz="18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mc:Choice>
        <mc:Fallback>
          <p:sp>
            <p:nvSpPr>
              <p:cNvPr id="2" name="Title 1">
                <a:extLst>
                  <a:ext uri="{FF2B5EF4-FFF2-40B4-BE49-F238E27FC236}">
                    <a16:creationId xmlns:a16="http://schemas.microsoft.com/office/drawing/2014/main" id="{218A5991-2959-4D58-8277-5402E93B2C44}"/>
                  </a:ext>
                </a:extLst>
              </p:cNvPr>
              <p:cNvSpPr>
                <a:spLocks noGrp="1" noRot="1" noChangeAspect="1" noMove="1" noResize="1" noEditPoints="1" noAdjustHandles="1" noChangeArrowheads="1" noChangeShapeType="1" noTextEdit="1"/>
              </p:cNvSpPr>
              <p:nvPr>
                <p:ph type="title"/>
              </p:nvPr>
            </p:nvSpPr>
            <p:spPr>
              <a:xfrm>
                <a:off x="838200" y="365125"/>
                <a:ext cx="10515600" cy="1109111"/>
              </a:xfrm>
              <a:blipFill>
                <a:blip r:embed="rId2"/>
                <a:stretch>
                  <a:fillRect l="-348" t="-3297" r="-174"/>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79823AD-9E20-4B85-932D-79AC50014212}"/>
                  </a:ext>
                </a:extLst>
              </p:cNvPr>
              <p:cNvSpPr>
                <a:spLocks noGrp="1"/>
              </p:cNvSpPr>
              <p:nvPr>
                <p:ph idx="1"/>
              </p:nvPr>
            </p:nvSpPr>
            <p:spPr>
              <a:xfrm>
                <a:off x="838200" y="1324946"/>
                <a:ext cx="4844143" cy="4786702"/>
              </a:xfrm>
            </p:spPr>
            <p:txBody>
              <a:bodyPr>
                <a:normAutofit/>
              </a:bodyPr>
              <a:lstStyle/>
              <a:p>
                <a:pPr marL="0" indent="0">
                  <a:buNone/>
                </a:pPr>
                <a:endParaRPr lang="en-IN" dirty="0"/>
              </a:p>
              <a:p>
                <a:pPr>
                  <a:lnSpc>
                    <a:spcPct val="115000"/>
                  </a:lnSpc>
                  <a:spcAft>
                    <a:spcPts val="1000"/>
                  </a:spcAft>
                </a:pPr>
                <a:r>
                  <a:rPr lang="en-IN" sz="1800" b="1" dirty="0">
                    <a:effectLst/>
                    <a:latin typeface="Cambria" panose="02040503050406030204" pitchFamily="18" charset="0"/>
                    <a:ea typeface="Times New Roman" panose="02020603050405020304" pitchFamily="18" charset="0"/>
                    <a:cs typeface="Times New Roman" panose="02020603050405020304" pitchFamily="18" charset="0"/>
                  </a:rPr>
                  <a:t>Given: -</a:t>
                </a:r>
                <a14:m>
                  <m:oMath xmlns:m="http://schemas.openxmlformats.org/officeDocument/2006/math">
                    <m:r>
                      <a:rPr lang="en-IN" sz="1800">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λ</m:t>
                    </m:r>
                  </m:oMath>
                </a14:m>
                <a:r>
                  <a:rPr lang="en-IN" sz="1800" dirty="0">
                    <a:effectLst/>
                    <a:latin typeface="Cambria" panose="02040503050406030204" pitchFamily="18" charset="0"/>
                    <a:ea typeface="Times New Roman" panose="02020603050405020304" pitchFamily="18" charset="0"/>
                    <a:cs typeface="Times New Roman" panose="02020603050405020304" pitchFamily="18" charset="0"/>
                  </a:rPr>
                  <a:t>=</a:t>
                </a:r>
                <a14:m>
                  <m:oMath xmlns:m="http://schemas.openxmlformats.org/officeDocument/2006/math">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1.549</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𝐴</m:t>
                        </m:r>
                      </m:e>
                      <m:sup>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0</m:t>
                        </m:r>
                      </m:sup>
                    </m:sSup>
                  </m:oMath>
                </a14:m>
                <a:r>
                  <a:rPr lang="en-IN" sz="1800" dirty="0">
                    <a:effectLst/>
                    <a:latin typeface="Cambria" panose="02040503050406030204" pitchFamily="18" charset="0"/>
                    <a:ea typeface="Times New Roman" panose="02020603050405020304" pitchFamily="18" charset="0"/>
                    <a:cs typeface="Times New Roman" panose="02020603050405020304" pitchFamily="18" charset="0"/>
                  </a:rPr>
                  <a:t>, d=</a:t>
                </a: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4.255 </a:t>
                </a:r>
                <a14:m>
                  <m:oMath xmlns:m="http://schemas.openxmlformats.org/officeDocument/2006/math">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𝐴</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sup>
                    </m:sSup>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b="1" dirty="0">
                    <a:effectLst/>
                    <a:latin typeface="Cambria" panose="02040503050406030204" pitchFamily="18" charset="0"/>
                    <a:ea typeface="Times New Roman" panose="02020603050405020304" pitchFamily="18" charset="0"/>
                    <a:cs typeface="Times New Roman" panose="02020603050405020304" pitchFamily="18" charset="0"/>
                  </a:rPr>
                  <a:t>  Formula: -</a:t>
                </a: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2dsin</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𝜃</m:t>
                    </m:r>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=n </a:t>
                </a:r>
                <a:r>
                  <a:rPr lang="en-IN" sz="1800" dirty="0">
                    <a:effectLst/>
                    <a:latin typeface="Cambria" panose="02040503050406030204" pitchFamily="18" charset="0"/>
                    <a:ea typeface="Times New Roman" panose="02020603050405020304" pitchFamily="18" charset="0"/>
                    <a:cs typeface="Times New Roman" panose="02020603050405020304" pitchFamily="18" charset="0"/>
                  </a:rPr>
                  <a:t>λ	</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b="1" u="sng" dirty="0">
                    <a:effectLst/>
                    <a:latin typeface="Cambria" panose="02040503050406030204" pitchFamily="18" charset="0"/>
                    <a:ea typeface="Times New Roman" panose="02020603050405020304" pitchFamily="18" charset="0"/>
                    <a:cs typeface="Times New Roman" panose="02020603050405020304" pitchFamily="18" charset="0"/>
                  </a:rPr>
                  <a:t>     Solution: -</a:t>
                </a: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For smallest glancing angle </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n=</a:t>
                </a:r>
                <a14:m>
                  <m:oMath xmlns:m="http://schemas.openxmlformats.org/officeDocument/2006/math">
                    <m:sSub>
                      <m:sSub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𝑚𝑖𝑛</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2dsin</a:t>
                </a:r>
                <a14:m>
                  <m:oMath xmlns:m="http://schemas.openxmlformats.org/officeDocument/2006/math">
                    <m:sSub>
                      <m:sSub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𝑚𝑖𝑛</m:t>
                        </m:r>
                      </m:sub>
                    </m:sSub>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r>
                  <a:rPr lang="en-IN" sz="1800" dirty="0">
                    <a:effectLst/>
                    <a:latin typeface="Cambria" panose="02040503050406030204" pitchFamily="18" charset="0"/>
                    <a:ea typeface="Times New Roman" panose="02020603050405020304" pitchFamily="18" charset="0"/>
                    <a:cs typeface="Times New Roman" panose="02020603050405020304" pitchFamily="18" charset="0"/>
                  </a:rPr>
                  <a:t>λ</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sin</a:t>
                </a:r>
                <a14:m>
                  <m:oMath xmlns:m="http://schemas.openxmlformats.org/officeDocument/2006/math">
                    <m:sSub>
                      <m:sSub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𝑚𝑖𝑛</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λ</m:t>
                        </m:r>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𝑑</m:t>
                        </m:r>
                      </m:den>
                    </m:f>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a:t>
                </a:r>
                <a14:m>
                  <m:oMath xmlns:m="http://schemas.openxmlformats.org/officeDocument/2006/math">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1.549</m:t>
                        </m:r>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4.255</m:t>
                        </m:r>
                      </m:den>
                    </m:f>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IN"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t>𝜃</m:t>
                        </m:r>
                      </m:e>
                      <m:sub>
                        <m:r>
                          <a:rPr lang="en-US"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t>𝑚𝑖𝑛</m:t>
                        </m:r>
                      </m:sub>
                    </m:sSub>
                    <m:r>
                      <a:rPr lang="en-US"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t>10.4875</m:t>
                        </m:r>
                      </m:e>
                      <m:sup>
                        <m:r>
                          <a:rPr lang="en-US"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t>0</m:t>
                        </m:r>
                      </m:sup>
                    </m:sSup>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0" indent="0">
                  <a:buNone/>
                </a:pPr>
                <a:endParaRPr lang="en-IN" dirty="0"/>
              </a:p>
            </p:txBody>
          </p:sp>
        </mc:Choice>
        <mc:Fallback>
          <p:sp>
            <p:nvSpPr>
              <p:cNvPr id="3" name="Content Placeholder 2">
                <a:extLst>
                  <a:ext uri="{FF2B5EF4-FFF2-40B4-BE49-F238E27FC236}">
                    <a16:creationId xmlns:a16="http://schemas.microsoft.com/office/drawing/2014/main" id="{D79823AD-9E20-4B85-932D-79AC50014212}"/>
                  </a:ext>
                </a:extLst>
              </p:cNvPr>
              <p:cNvSpPr>
                <a:spLocks noGrp="1" noRot="1" noChangeAspect="1" noMove="1" noResize="1" noEditPoints="1" noAdjustHandles="1" noChangeArrowheads="1" noChangeShapeType="1" noTextEdit="1"/>
              </p:cNvSpPr>
              <p:nvPr>
                <p:ph idx="1"/>
              </p:nvPr>
            </p:nvSpPr>
            <p:spPr>
              <a:xfrm>
                <a:off x="838200" y="1324946"/>
                <a:ext cx="4844143" cy="4786702"/>
              </a:xfrm>
              <a:blipFill>
                <a:blip r:embed="rId3"/>
                <a:stretch>
                  <a:fillRect l="-882"/>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C339E3F-2DDE-4A0E-98A7-E233B2018CC6}"/>
                  </a:ext>
                </a:extLst>
              </p:cNvPr>
              <p:cNvSpPr txBox="1"/>
              <p:nvPr/>
            </p:nvSpPr>
            <p:spPr>
              <a:xfrm>
                <a:off x="6596743" y="2230016"/>
                <a:ext cx="4869024" cy="2764859"/>
              </a:xfrm>
              <a:prstGeom prst="rect">
                <a:avLst/>
              </a:prstGeom>
              <a:noFill/>
            </p:spPr>
            <p:txBody>
              <a:bodyPr wrap="square" rtlCol="0">
                <a:spAutoFit/>
              </a:bodyPr>
              <a:lstStyle/>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For Highest order, </a:t>
                </a:r>
                <a14:m>
                  <m:oMath xmlns:m="http://schemas.openxmlformats.org/officeDocument/2006/math">
                    <m:sSub>
                      <m:sSub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sin</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𝜃</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2d= </a:t>
                </a:r>
                <a14:m>
                  <m:oMath xmlns:m="http://schemas.openxmlformats.org/officeDocument/2006/math">
                    <m:sSub>
                      <m:sSub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𝑋</m:t>
                    </m:r>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λ</m:t>
                    </m:r>
                  </m:oMath>
                </a14:m>
                <a:r>
                  <a:rPr lang="en-IN" sz="1800" dirty="0">
                    <a:effectLst/>
                    <a:latin typeface="Cambria" panose="020405030504060302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𝑑</m:t>
                        </m:r>
                      </m:num>
                      <m:den>
                        <m:r>
                          <a:rPr lang="en-US" sz="1800">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λ</m:t>
                        </m:r>
                      </m:den>
                    </m:f>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4.255</m:t>
                        </m:r>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1.549</m:t>
                        </m:r>
                      </m:den>
                    </m:f>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=5.49=5</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b="1" u="sng" dirty="0">
                    <a:effectLst/>
                    <a:latin typeface="Cambria" panose="02040503050406030204" pitchFamily="18" charset="0"/>
                    <a:ea typeface="Times New Roman" panose="02020603050405020304" pitchFamily="18" charset="0"/>
                    <a:cs typeface="Times New Roman" panose="02020603050405020304" pitchFamily="18" charset="0"/>
                  </a:rPr>
                  <a:t>     Ans: -</a:t>
                </a:r>
                <a:r>
                  <a:rPr lang="en-US" sz="1800" u="sng" dirty="0">
                    <a:effectLst/>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IN" sz="1800" i="1" u="sng">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u="sng">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n-US" sz="1800" i="1" u="sng">
                            <a:effectLst/>
                            <a:latin typeface="Cambria Math" panose="02040503050406030204" pitchFamily="18" charset="0"/>
                            <a:ea typeface="Times New Roman" panose="02020603050405020304" pitchFamily="18" charset="0"/>
                            <a:cs typeface="Times New Roman" panose="02020603050405020304" pitchFamily="18" charset="0"/>
                          </a:rPr>
                          <m:t>𝑚𝑖𝑛</m:t>
                        </m:r>
                      </m:sub>
                    </m:sSub>
                    <m:r>
                      <a:rPr lang="en-US" sz="1800" i="1" u="sng">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1800" i="1" u="sng">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u="sng">
                            <a:effectLst/>
                            <a:latin typeface="Cambria Math" panose="02040503050406030204" pitchFamily="18" charset="0"/>
                            <a:ea typeface="Times New Roman" panose="02020603050405020304" pitchFamily="18" charset="0"/>
                            <a:cs typeface="Times New Roman" panose="02020603050405020304" pitchFamily="18" charset="0"/>
                          </a:rPr>
                          <m:t>10.48</m:t>
                        </m:r>
                      </m:e>
                      <m:sup>
                        <m:r>
                          <a:rPr lang="en-US" sz="1800" i="1" u="sng">
                            <a:effectLst/>
                            <a:latin typeface="Cambria Math" panose="02040503050406030204" pitchFamily="18" charset="0"/>
                            <a:ea typeface="Times New Roman" panose="02020603050405020304" pitchFamily="18" charset="0"/>
                            <a:cs typeface="Times New Roman" panose="02020603050405020304" pitchFamily="18" charset="0"/>
                          </a:rPr>
                          <m:t>0</m:t>
                        </m:r>
                      </m:sup>
                    </m:sSup>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u="sng" dirty="0">
                    <a:effectLst/>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IN" sz="1800" i="1" u="sng">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u="sng">
                            <a:effectLst/>
                            <a:latin typeface="Cambria Math" panose="02040503050406030204" pitchFamily="18" charset="0"/>
                            <a:ea typeface="Times New Roman" panose="02020603050405020304" pitchFamily="18" charset="0"/>
                            <a:cs typeface="Times New Roman" panose="02020603050405020304" pitchFamily="18" charset="0"/>
                          </a:rPr>
                          <m:t>𝑛</m:t>
                        </m:r>
                      </m:e>
                      <m:sub>
                        <m:r>
                          <a:rPr lang="en-US" sz="1800" i="1" u="sng">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r>
                      <a:rPr lang="en-US" sz="1800" i="1" u="sng">
                        <a:effectLst/>
                        <a:latin typeface="Cambria Math" panose="02040503050406030204" pitchFamily="18" charset="0"/>
                        <a:ea typeface="Times New Roman" panose="02020603050405020304" pitchFamily="18" charset="0"/>
                        <a:cs typeface="Times New Roman" panose="02020603050405020304" pitchFamily="18" charset="0"/>
                      </a:rPr>
                      <m:t>=5</m:t>
                    </m:r>
                  </m:oMath>
                </a14:m>
                <a:endParaRPr lang="en-IN" dirty="0"/>
              </a:p>
            </p:txBody>
          </p:sp>
        </mc:Choice>
        <mc:Fallback>
          <p:sp>
            <p:nvSpPr>
              <p:cNvPr id="4" name="TextBox 3">
                <a:extLst>
                  <a:ext uri="{FF2B5EF4-FFF2-40B4-BE49-F238E27FC236}">
                    <a16:creationId xmlns:a16="http://schemas.microsoft.com/office/drawing/2014/main" id="{7C339E3F-2DDE-4A0E-98A7-E233B2018CC6}"/>
                  </a:ext>
                </a:extLst>
              </p:cNvPr>
              <p:cNvSpPr txBox="1">
                <a:spLocks noRot="1" noChangeAspect="1" noMove="1" noResize="1" noEditPoints="1" noAdjustHandles="1" noChangeArrowheads="1" noChangeShapeType="1" noTextEdit="1"/>
              </p:cNvSpPr>
              <p:nvPr/>
            </p:nvSpPr>
            <p:spPr>
              <a:xfrm>
                <a:off x="6596743" y="2230016"/>
                <a:ext cx="4869024" cy="2764859"/>
              </a:xfrm>
              <a:prstGeom prst="rect">
                <a:avLst/>
              </a:prstGeom>
              <a:blipFill>
                <a:blip r:embed="rId4"/>
                <a:stretch>
                  <a:fillRect t="-883"/>
                </a:stretch>
              </a:blipFill>
            </p:spPr>
            <p:txBody>
              <a:bodyPr/>
              <a:lstStyle/>
              <a:p>
                <a:r>
                  <a:rPr lang="en-IN">
                    <a:noFill/>
                  </a:rPr>
                  <a:t> </a:t>
                </a:r>
              </a:p>
            </p:txBody>
          </p:sp>
        </mc:Fallback>
      </mc:AlternateContent>
    </p:spTree>
    <p:extLst>
      <p:ext uri="{BB962C8B-B14F-4D97-AF65-F5344CB8AC3E}">
        <p14:creationId xmlns:p14="http://schemas.microsoft.com/office/powerpoint/2010/main" val="1813056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379A5-FF60-44E9-ABE7-C4C08648796B}"/>
              </a:ext>
            </a:extLst>
          </p:cNvPr>
          <p:cNvSpPr>
            <a:spLocks noGrp="1"/>
          </p:cNvSpPr>
          <p:nvPr>
            <p:ph type="title"/>
          </p:nvPr>
        </p:nvSpPr>
        <p:spPr>
          <a:xfrm>
            <a:off x="838200" y="365125"/>
            <a:ext cx="10515600" cy="1006475"/>
          </a:xfrm>
        </p:spPr>
        <p:txBody>
          <a:bodyPr>
            <a:normAutofit fontScale="90000"/>
          </a:bodyPr>
          <a:lstStyle/>
          <a:p>
            <a:r>
              <a:rPr lang="en-US" sz="1800" b="1" dirty="0">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Q4.</a:t>
            </a:r>
            <a:r>
              <a:rPr lang="en-US" sz="1800" dirty="0">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In comparing the wavelengths of two monochromatic X-ray lines it is found that line A gives 1st order Bragg's maximum at a glancing angle of 30° to the smooth face of a crystal. Line B of known wavelength of 0.97 A° gives 3rd order reflection maximum at a glancing angle of 60° with the same face of the crystal. Find the wavelength of line A.</a:t>
            </a:r>
            <a:br>
              <a:rPr lang="en-IN" sz="18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6E6A789-4A1B-49EE-A572-9FE0A632EBE3}"/>
                  </a:ext>
                </a:extLst>
              </p:cNvPr>
              <p:cNvSpPr>
                <a:spLocks noGrp="1"/>
              </p:cNvSpPr>
              <p:nvPr>
                <p:ph idx="1"/>
              </p:nvPr>
            </p:nvSpPr>
            <p:spPr>
              <a:xfrm>
                <a:off x="838200" y="1464906"/>
                <a:ext cx="10515600" cy="4712057"/>
              </a:xfrm>
            </p:spPr>
            <p:txBody>
              <a:bodyPr>
                <a:normAutofit lnSpcReduction="10000"/>
              </a:bodyPr>
              <a:lstStyle/>
              <a:p>
                <a:pPr marL="457200">
                  <a:lnSpc>
                    <a:spcPct val="115000"/>
                  </a:lnSpc>
                  <a:spcAft>
                    <a:spcPts val="1000"/>
                  </a:spcAft>
                </a:pPr>
                <a:r>
                  <a:rPr lang="en-US" sz="1800" b="1" dirty="0">
                    <a:effectLst/>
                    <a:latin typeface="Cambria" panose="02040503050406030204" pitchFamily="18" charset="0"/>
                    <a:ea typeface="Calibri" panose="020F0502020204030204" pitchFamily="34" charset="0"/>
                    <a:cs typeface="Times New Roman" panose="02020603050405020304" pitchFamily="18" charset="0"/>
                  </a:rPr>
                  <a:t>Given: -</a:t>
                </a:r>
                <a:r>
                  <a:rPr lang="en-US" sz="1800" dirty="0">
                    <a:effectLst/>
                    <a:latin typeface="Cambria" panose="02040503050406030204" pitchFamily="18" charset="0"/>
                    <a:ea typeface="Calibri" panose="020F0502020204030204" pitchFamily="34" charset="0"/>
                    <a:cs typeface="Times New Roman" panose="02020603050405020304" pitchFamily="18" charset="0"/>
                  </a:rPr>
                  <a:t> line A: - n</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1</a:t>
                </a:r>
                <a:r>
                  <a:rPr lang="en-US" sz="1800" dirty="0">
                    <a:effectLst/>
                    <a:latin typeface="Cambria" panose="02040503050406030204" pitchFamily="18" charset="0"/>
                    <a:ea typeface="Calibri" panose="020F0502020204030204" pitchFamily="34" charset="0"/>
                    <a:cs typeface="Times New Roman" panose="02020603050405020304" pitchFamily="18" charset="0"/>
                  </a:rPr>
                  <a:t>=1, θ=30</a:t>
                </a:r>
                <a:r>
                  <a:rPr lang="en-US" sz="1800" baseline="30000" dirty="0">
                    <a:effectLst/>
                    <a:latin typeface="Cambria" panose="02040503050406030204" pitchFamily="18" charset="0"/>
                    <a:ea typeface="Calibri" panose="020F0502020204030204" pitchFamily="34" charset="0"/>
                    <a:cs typeface="Times New Roman" panose="02020603050405020304" pitchFamily="18" charset="0"/>
                  </a:rPr>
                  <a:t>o</a:t>
                </a: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r>
                  <a:rPr lang="en-US" sz="1800" dirty="0">
                    <a:effectLst/>
                    <a:latin typeface="Cambria" panose="02040503050406030204" pitchFamily="18" charset="0"/>
                    <a:ea typeface="Calibri" panose="020F0502020204030204" pitchFamily="34" charset="0"/>
                    <a:cs typeface="Cambria Math" panose="02040503050406030204" pitchFamily="18" charset="0"/>
                  </a:rPr>
                  <a:t>𝜆</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1</a:t>
                </a:r>
                <a:r>
                  <a:rPr lang="en-US" sz="1800" dirty="0">
                    <a:effectLst/>
                    <a:latin typeface="Cambria" panose="020405030504060302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spcAft>
                    <a:spcPts val="1000"/>
                  </a:spcAft>
                </a:pPr>
                <a:r>
                  <a:rPr lang="en-US" sz="1800" dirty="0">
                    <a:effectLst/>
                    <a:latin typeface="Cambria" panose="02040503050406030204" pitchFamily="18" charset="0"/>
                    <a:ea typeface="Calibri" panose="020F0502020204030204" pitchFamily="34" charset="0"/>
                    <a:cs typeface="Times New Roman" panose="02020603050405020304" pitchFamily="18" charset="0"/>
                  </a:rPr>
                  <a:t>	line A: - n</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1</a:t>
                </a:r>
                <a:r>
                  <a:rPr lang="en-US" sz="1800" dirty="0">
                    <a:effectLst/>
                    <a:latin typeface="Cambria" panose="02040503050406030204" pitchFamily="18" charset="0"/>
                    <a:ea typeface="Calibri" panose="020F0502020204030204" pitchFamily="34" charset="0"/>
                    <a:cs typeface="Times New Roman" panose="02020603050405020304" pitchFamily="18" charset="0"/>
                  </a:rPr>
                  <a:t>=3, θ=60</a:t>
                </a:r>
                <a:r>
                  <a:rPr lang="en-US" sz="1800" baseline="30000" dirty="0">
                    <a:effectLst/>
                    <a:latin typeface="Cambria" panose="02040503050406030204" pitchFamily="18" charset="0"/>
                    <a:ea typeface="Calibri" panose="020F0502020204030204" pitchFamily="34" charset="0"/>
                    <a:cs typeface="Times New Roman" panose="02020603050405020304" pitchFamily="18" charset="0"/>
                  </a:rPr>
                  <a:t>o</a:t>
                </a: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r>
                  <a:rPr lang="en-US" sz="1800" dirty="0">
                    <a:effectLst/>
                    <a:latin typeface="Cambria" panose="02040503050406030204" pitchFamily="18" charset="0"/>
                    <a:ea typeface="Calibri" panose="020F0502020204030204" pitchFamily="34" charset="0"/>
                    <a:cs typeface="Cambria Math" panose="02040503050406030204" pitchFamily="18" charset="0"/>
                  </a:rPr>
                  <a:t>𝜆</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2</a:t>
                </a:r>
                <a:r>
                  <a:rPr lang="en-US" sz="1800" dirty="0">
                    <a:effectLst/>
                    <a:latin typeface="Cambria" panose="02040503050406030204" pitchFamily="18" charset="0"/>
                    <a:ea typeface="Calibri" panose="020F0502020204030204" pitchFamily="34" charset="0"/>
                    <a:cs typeface="Times New Roman" panose="02020603050405020304" pitchFamily="18" charset="0"/>
                  </a:rPr>
                  <a:t>=0.97A</a:t>
                </a:r>
                <a:r>
                  <a:rPr lang="en-US" sz="1800" baseline="30000" dirty="0">
                    <a:effectLst/>
                    <a:latin typeface="Cambria" panose="02040503050406030204" pitchFamily="18" charset="0"/>
                    <a:ea typeface="Calibri" panose="020F0502020204030204" pitchFamily="34" charset="0"/>
                    <a:cs typeface="Times New Roman" panose="02020603050405020304" pitchFamily="18" charset="0"/>
                  </a:rPr>
                  <a:t>o</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spcAft>
                    <a:spcPts val="1000"/>
                  </a:spcAft>
                </a:pPr>
                <a:r>
                  <a:rPr lang="en-US" sz="1800" b="1" dirty="0">
                    <a:effectLst/>
                    <a:latin typeface="Cambria" panose="02040503050406030204" pitchFamily="18" charset="0"/>
                    <a:ea typeface="Calibri" panose="020F0502020204030204" pitchFamily="34" charset="0"/>
                    <a:cs typeface="Times New Roman" panose="02020603050405020304" pitchFamily="18" charset="0"/>
                  </a:rPr>
                  <a:t>Formula: -</a:t>
                </a:r>
                <a:r>
                  <a:rPr lang="en-US" sz="1800" dirty="0">
                    <a:effectLst/>
                    <a:latin typeface="Cambria" panose="02040503050406030204" pitchFamily="18" charset="0"/>
                    <a:ea typeface="Calibri" panose="020F0502020204030204" pitchFamily="34" charset="0"/>
                    <a:cs typeface="Times New Roman" panose="02020603050405020304" pitchFamily="18" charset="0"/>
                  </a:rPr>
                  <a:t> 2dsinθ=n</a:t>
                </a:r>
                <a:r>
                  <a:rPr lang="en-US" sz="1800" dirty="0">
                    <a:effectLst/>
                    <a:latin typeface="Cambria" panose="02040503050406030204" pitchFamily="18" charset="0"/>
                    <a:ea typeface="Calibri" panose="020F0502020204030204" pitchFamily="34" charset="0"/>
                    <a:cs typeface="Cambria Math" panose="02040503050406030204" pitchFamily="18" charset="0"/>
                  </a:rPr>
                  <a:t>𝜆</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spcAft>
                    <a:spcPts val="1000"/>
                  </a:spcAft>
                </a:pPr>
                <a:r>
                  <a:rPr lang="en-US" sz="1800" b="1" u="sng" dirty="0">
                    <a:effectLst/>
                    <a:latin typeface="Cambria" panose="02040503050406030204" pitchFamily="18" charset="0"/>
                    <a:ea typeface="Calibri" panose="020F0502020204030204" pitchFamily="34" charset="0"/>
                    <a:cs typeface="Times New Roman" panose="02020603050405020304" pitchFamily="18" charset="0"/>
                  </a:rPr>
                  <a:t>Solution: -</a:t>
                </a:r>
                <a:r>
                  <a:rPr lang="en-US" sz="1800" dirty="0">
                    <a:effectLst/>
                    <a:latin typeface="Cambria" panose="02040503050406030204" pitchFamily="18" charset="0"/>
                    <a:ea typeface="Calibri" panose="020F0502020204030204" pitchFamily="34" charset="0"/>
                    <a:cs typeface="Times New Roman" panose="02020603050405020304" pitchFamily="18" charset="0"/>
                  </a:rPr>
                  <a:t> 2dsinθ</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1</a:t>
                </a:r>
                <a:r>
                  <a:rPr lang="en-US" sz="1800" dirty="0">
                    <a:effectLst/>
                    <a:latin typeface="Cambria" panose="02040503050406030204" pitchFamily="18" charset="0"/>
                    <a:ea typeface="Calibri" panose="020F0502020204030204" pitchFamily="34" charset="0"/>
                    <a:cs typeface="Times New Roman" panose="02020603050405020304" pitchFamily="18" charset="0"/>
                  </a:rPr>
                  <a:t> =n</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1</a:t>
                </a: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r>
                  <a:rPr lang="en-US" sz="1800" dirty="0">
                    <a:effectLst/>
                    <a:latin typeface="Cambria" panose="02040503050406030204" pitchFamily="18" charset="0"/>
                    <a:ea typeface="Calibri" panose="020F0502020204030204" pitchFamily="34" charset="0"/>
                    <a:cs typeface="Cambria Math" panose="02040503050406030204" pitchFamily="18" charset="0"/>
                  </a:rPr>
                  <a:t>𝜆</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1</a:t>
                </a:r>
                <a:r>
                  <a:rPr lang="en-US" sz="1800" dirty="0">
                    <a:effectLst/>
                    <a:latin typeface="Cambria" panose="02040503050406030204" pitchFamily="18" charset="0"/>
                    <a:ea typeface="Calibri" panose="020F0502020204030204" pitchFamily="34" charset="0"/>
                    <a:cs typeface="Times New Roman" panose="02020603050405020304" pitchFamily="18" charset="0"/>
                  </a:rPr>
                  <a:t>	and	2dsinθ</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2</a:t>
                </a:r>
                <a:r>
                  <a:rPr lang="en-US" sz="1800" dirty="0">
                    <a:effectLst/>
                    <a:latin typeface="Cambria" panose="02040503050406030204" pitchFamily="18" charset="0"/>
                    <a:ea typeface="Calibri" panose="020F0502020204030204" pitchFamily="34" charset="0"/>
                    <a:cs typeface="Times New Roman" panose="02020603050405020304" pitchFamily="18" charset="0"/>
                  </a:rPr>
                  <a:t> =n</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2</a:t>
                </a: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r>
                  <a:rPr lang="en-US" sz="1800" dirty="0">
                    <a:effectLst/>
                    <a:latin typeface="Cambria" panose="02040503050406030204" pitchFamily="18" charset="0"/>
                    <a:ea typeface="Calibri" panose="020F0502020204030204" pitchFamily="34" charset="0"/>
                    <a:cs typeface="Cambria Math" panose="02040503050406030204" pitchFamily="18" charset="0"/>
                  </a:rPr>
                  <a:t>𝜆</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2</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spcAft>
                    <a:spcPts val="1000"/>
                  </a:spcAft>
                </a:pP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14:m>
                  <m:oMath xmlns:m="http://schemas.openxmlformats.org/officeDocument/2006/math">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𝑠𝑖𝑛</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𝜃</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𝑠𝑖𝑛</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𝜃</m:t>
                        </m:r>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den>
                    </m:f>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a:t>
                </a:r>
                <a14:m>
                  <m:oMath xmlns:m="http://schemas.openxmlformats.org/officeDocument/2006/math">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sub>
                        </m:sSub>
                        <m:sSub>
                          <m:sSub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num>
                      <m:den>
                        <m:sSub>
                          <m:sSub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sub>
                        </m:sSub>
                        <m:sSub>
                          <m:sSub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sub>
                        </m:sSub>
                      </m:den>
                    </m:f>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spcAft>
                    <a:spcPts val="1000"/>
                  </a:spcAft>
                </a:pP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r>
                  <a:rPr lang="en-US" sz="1800" dirty="0">
                    <a:effectLst/>
                    <a:latin typeface="Cambria" panose="02040503050406030204" pitchFamily="18" charset="0"/>
                    <a:ea typeface="Calibri" panose="020F0502020204030204" pitchFamily="34" charset="0"/>
                    <a:cs typeface="Cambria Math" panose="02040503050406030204" pitchFamily="18" charset="0"/>
                  </a:rPr>
                  <a:t>𝜆</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1</a:t>
                </a: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r>
                  <a:rPr lang="en-US" sz="1800" dirty="0">
                    <a:effectLst/>
                    <a:latin typeface="Cambria" panose="02040503050406030204" pitchFamily="18" charset="0"/>
                    <a:ea typeface="Calibri" panose="020F0502020204030204" pitchFamily="34" charset="0"/>
                    <a:cs typeface="Cambria Math" panose="02040503050406030204" pitchFamily="18" charset="0"/>
                  </a:rPr>
                  <a:t>𝜆</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2</a:t>
                </a:r>
                <a14:m>
                  <m:oMath xmlns:m="http://schemas.openxmlformats.org/officeDocument/2006/math">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𝑠𝑖𝑛</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𝜃</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𝑠𝑖𝑛</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𝜃</m:t>
                        </m:r>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den>
                    </m:f>
                    <m:r>
                      <a:rPr lang="en-US"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den>
                    </m:f>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 0.97x10</a:t>
                </a:r>
                <a:r>
                  <a:rPr lang="en-US" sz="1800" baseline="30000" dirty="0">
                    <a:effectLst/>
                    <a:latin typeface="Cambria" panose="02040503050406030204" pitchFamily="18" charset="0"/>
                    <a:ea typeface="Times New Roman" panose="02020603050405020304" pitchFamily="18" charset="0"/>
                    <a:cs typeface="Times New Roman" panose="02020603050405020304" pitchFamily="18" charset="0"/>
                  </a:rPr>
                  <a:t>-10</a:t>
                </a: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𝑠𝑖𝑛</m:t>
                        </m:r>
                        <m:r>
                          <a:rPr lang="en-US" sz="1800" i="1">
                            <a:effectLst/>
                            <a:latin typeface="Cambria Math" panose="02040503050406030204" pitchFamily="18" charset="0"/>
                            <a:ea typeface="Calibri" panose="020F0502020204030204" pitchFamily="34" charset="0"/>
                            <a:cs typeface="Times New Roman" panose="02020603050405020304" pitchFamily="18" charset="0"/>
                          </a:rPr>
                          <m:t>30</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𝑠𝑖𝑛</m:t>
                        </m:r>
                        <m:r>
                          <a:rPr lang="en-US" sz="1800" i="1">
                            <a:effectLst/>
                            <a:latin typeface="Cambria Math" panose="02040503050406030204" pitchFamily="18" charset="0"/>
                            <a:ea typeface="Calibri" panose="020F0502020204030204" pitchFamily="34" charset="0"/>
                            <a:cs typeface="Times New Roman" panose="02020603050405020304" pitchFamily="18" charset="0"/>
                          </a:rPr>
                          <m:t>60</m:t>
                        </m:r>
                      </m:den>
                    </m:f>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x3</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cs typeface="Cambria Math" panose="02040503050406030204" pitchFamily="18" charset="0"/>
                  </a:rPr>
                  <a:t>𝜆</a:t>
                </a:r>
                <a:r>
                  <a:rPr lang="en-US" sz="1800" baseline="-25000" dirty="0">
                    <a:effectLst/>
                    <a:latin typeface="Cambria" panose="02040503050406030204" pitchFamily="18" charset="0"/>
                    <a:ea typeface="Times New Roman" panose="02020603050405020304" pitchFamily="18" charset="0"/>
                    <a:cs typeface="Times New Roman" panose="02020603050405020304" pitchFamily="18" charset="0"/>
                  </a:rPr>
                  <a:t>1</a:t>
                </a: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=1.68 A</a:t>
                </a:r>
                <a:r>
                  <a:rPr lang="en-US" sz="1800" baseline="30000" dirty="0">
                    <a:effectLst/>
                    <a:latin typeface="Cambria" panose="02040503050406030204" pitchFamily="18" charset="0"/>
                    <a:ea typeface="Times New Roman" panose="02020603050405020304" pitchFamily="18" charset="0"/>
                    <a:cs typeface="Times New Roman" panose="02020603050405020304" pitchFamily="18" charset="0"/>
                  </a:rPr>
                  <a:t>0</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spcAft>
                    <a:spcPts val="1000"/>
                  </a:spcAft>
                </a:pPr>
                <a:r>
                  <a:rPr lang="en-US" sz="1800" b="1" u="sng" dirty="0">
                    <a:effectLst/>
                    <a:latin typeface="Cambria" panose="02040503050406030204" pitchFamily="18" charset="0"/>
                    <a:ea typeface="Times New Roman" panose="02020603050405020304" pitchFamily="18" charset="0"/>
                    <a:cs typeface="Times New Roman" panose="02020603050405020304" pitchFamily="18" charset="0"/>
                  </a:rPr>
                  <a:t>Ans: -</a:t>
                </a:r>
                <a:r>
                  <a:rPr lang="en-US" sz="1800" u="sng" dirty="0">
                    <a:effectLst/>
                    <a:latin typeface="Cambria" panose="02040503050406030204" pitchFamily="18" charset="0"/>
                    <a:ea typeface="Times New Roman" panose="02020603050405020304" pitchFamily="18" charset="0"/>
                    <a:cs typeface="Times New Roman" panose="02020603050405020304" pitchFamily="18" charset="0"/>
                  </a:rPr>
                  <a:t> wavelength of line A is 1.68 A</a:t>
                </a:r>
                <a:r>
                  <a:rPr lang="en-US" sz="1800" u="sng" baseline="30000" dirty="0">
                    <a:effectLst/>
                    <a:latin typeface="Cambria" panose="02040503050406030204" pitchFamily="18" charset="0"/>
                    <a:ea typeface="Times New Roman" panose="02020603050405020304" pitchFamily="18" charset="0"/>
                    <a:cs typeface="Times New Roman" panose="02020603050405020304" pitchFamily="18" charset="0"/>
                  </a:rPr>
                  <a:t>0</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0" indent="0">
                  <a:buNone/>
                </a:pPr>
                <a:endParaRPr lang="en-IN" dirty="0"/>
              </a:p>
            </p:txBody>
          </p:sp>
        </mc:Choice>
        <mc:Fallback>
          <p:sp>
            <p:nvSpPr>
              <p:cNvPr id="3" name="Content Placeholder 2">
                <a:extLst>
                  <a:ext uri="{FF2B5EF4-FFF2-40B4-BE49-F238E27FC236}">
                    <a16:creationId xmlns:a16="http://schemas.microsoft.com/office/drawing/2014/main" id="{16E6A789-4A1B-49EE-A572-9FE0A632EBE3}"/>
                  </a:ext>
                </a:extLst>
              </p:cNvPr>
              <p:cNvSpPr>
                <a:spLocks noGrp="1" noRot="1" noChangeAspect="1" noMove="1" noResize="1" noEditPoints="1" noAdjustHandles="1" noChangeArrowheads="1" noChangeShapeType="1" noTextEdit="1"/>
              </p:cNvSpPr>
              <p:nvPr>
                <p:ph idx="1"/>
              </p:nvPr>
            </p:nvSpPr>
            <p:spPr>
              <a:xfrm>
                <a:off x="838200" y="1464906"/>
                <a:ext cx="10515600" cy="4712057"/>
              </a:xfrm>
              <a:blipFill>
                <a:blip r:embed="rId2"/>
                <a:stretch>
                  <a:fillRect t="-906"/>
                </a:stretch>
              </a:blipFill>
            </p:spPr>
            <p:txBody>
              <a:bodyPr/>
              <a:lstStyle/>
              <a:p>
                <a:r>
                  <a:rPr lang="en-IN">
                    <a:noFill/>
                  </a:rPr>
                  <a:t> </a:t>
                </a:r>
              </a:p>
            </p:txBody>
          </p:sp>
        </mc:Fallback>
      </mc:AlternateContent>
    </p:spTree>
    <p:extLst>
      <p:ext uri="{BB962C8B-B14F-4D97-AF65-F5344CB8AC3E}">
        <p14:creationId xmlns:p14="http://schemas.microsoft.com/office/powerpoint/2010/main" val="613852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98E49-C7F1-44CE-A5EE-F94678ACF371}"/>
              </a:ext>
            </a:extLst>
          </p:cNvPr>
          <p:cNvSpPr>
            <a:spLocks noGrp="1"/>
          </p:cNvSpPr>
          <p:nvPr>
            <p:ph type="title"/>
          </p:nvPr>
        </p:nvSpPr>
        <p:spPr/>
        <p:txBody>
          <a:bodyPr>
            <a:normAutofit fontScale="90000"/>
          </a:bodyPr>
          <a:lstStyle/>
          <a:p>
            <a:r>
              <a:rPr lang="en-US" sz="1800" b="1" dirty="0">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Q5.</a:t>
            </a:r>
            <a:r>
              <a:rPr lang="en-US" sz="1800" dirty="0">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In NaCl crystal, the spacing between the successive (100) plane is 2.82 </a:t>
            </a:r>
            <a:r>
              <a:rPr lang="en-US" sz="1800" dirty="0" err="1">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A</a:t>
            </a:r>
            <a:r>
              <a:rPr lang="en-US" sz="1800" baseline="30000" dirty="0" err="1">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o</a:t>
            </a:r>
            <a:r>
              <a:rPr lang="en-US" sz="1800" dirty="0">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 X-ray incident on the surface of the crystal is found to give rise to first order Bragg reflection at glancing angle 8.8°. Calculate the wavelength of X-ray.</a:t>
            </a:r>
            <a:br>
              <a:rPr lang="en-IN" sz="18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39483C0-E61F-484D-8334-5CA907E6B7BE}"/>
                  </a:ext>
                </a:extLst>
              </p:cNvPr>
              <p:cNvSpPr>
                <a:spLocks noGrp="1"/>
              </p:cNvSpPr>
              <p:nvPr>
                <p:ph idx="1"/>
              </p:nvPr>
            </p:nvSpPr>
            <p:spPr>
              <a:xfrm>
                <a:off x="838200" y="1690688"/>
                <a:ext cx="10515600" cy="4024669"/>
              </a:xfrm>
            </p:spPr>
            <p:txBody>
              <a:bodyPr/>
              <a:lstStyle/>
              <a:p>
                <a:pPr marL="457200">
                  <a:lnSpc>
                    <a:spcPct val="115000"/>
                  </a:lnSpc>
                </a:pPr>
                <a:r>
                  <a:rPr lang="en-US" sz="1800" b="1" dirty="0">
                    <a:effectLst/>
                    <a:latin typeface="Cambria" panose="02040503050406030204" pitchFamily="18" charset="0"/>
                    <a:ea typeface="Calibri" panose="020F0502020204030204" pitchFamily="34" charset="0"/>
                    <a:cs typeface="Times New Roman" panose="02020603050405020304" pitchFamily="18" charset="0"/>
                  </a:rPr>
                  <a:t>Given: -</a:t>
                </a: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r>
                  <a:rPr lang="en-US" sz="1800" dirty="0" err="1">
                    <a:effectLst/>
                    <a:latin typeface="Cambria" panose="02040503050406030204" pitchFamily="18" charset="0"/>
                    <a:ea typeface="Calibri" panose="020F0502020204030204" pitchFamily="34" charset="0"/>
                    <a:cs typeface="Times New Roman" panose="02020603050405020304" pitchFamily="18" charset="0"/>
                  </a:rPr>
                  <a:t>hlk</a:t>
                </a:r>
                <a:r>
                  <a:rPr lang="en-US" sz="1800" dirty="0">
                    <a:effectLst/>
                    <a:latin typeface="Cambria" panose="02040503050406030204" pitchFamily="18" charset="0"/>
                    <a:ea typeface="Calibri" panose="020F0502020204030204" pitchFamily="34" charset="0"/>
                    <a:cs typeface="Times New Roman" panose="02020603050405020304" pitchFamily="18" charset="0"/>
                  </a:rPr>
                  <a:t>)=(100), d=2.82A</a:t>
                </a:r>
                <a:r>
                  <a:rPr lang="en-US" sz="1800" baseline="30000" dirty="0">
                    <a:effectLst/>
                    <a:latin typeface="Cambria" panose="02040503050406030204" pitchFamily="18" charset="0"/>
                    <a:ea typeface="Calibri" panose="020F0502020204030204" pitchFamily="34" charset="0"/>
                    <a:cs typeface="Times New Roman" panose="02020603050405020304" pitchFamily="18" charset="0"/>
                  </a:rPr>
                  <a:t>0</a:t>
                </a:r>
                <a:r>
                  <a:rPr lang="en-US" sz="1800" dirty="0">
                    <a:effectLst/>
                    <a:latin typeface="Cambria" panose="02040503050406030204" pitchFamily="18" charset="0"/>
                    <a:ea typeface="Calibri" panose="020F0502020204030204" pitchFamily="34" charset="0"/>
                    <a:cs typeface="Times New Roman" panose="02020603050405020304" pitchFamily="18" charset="0"/>
                  </a:rPr>
                  <a:t>,n=1,θ=8.8</a:t>
                </a:r>
                <a:r>
                  <a:rPr lang="en-US" sz="1800" baseline="30000" dirty="0">
                    <a:effectLst/>
                    <a:latin typeface="Cambria" panose="02040503050406030204" pitchFamily="18" charset="0"/>
                    <a:ea typeface="Calibri" panose="020F0502020204030204" pitchFamily="34" charset="0"/>
                    <a:cs typeface="Times New Roman" panose="02020603050405020304" pitchFamily="18" charset="0"/>
                  </a:rPr>
                  <a:t>o</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pP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pPr>
                <a:r>
                  <a:rPr lang="en-US" sz="1800" b="1" dirty="0">
                    <a:effectLst/>
                    <a:latin typeface="Cambria" panose="02040503050406030204" pitchFamily="18" charset="0"/>
                    <a:ea typeface="Calibri" panose="020F0502020204030204" pitchFamily="34" charset="0"/>
                    <a:cs typeface="Times New Roman" panose="02020603050405020304" pitchFamily="18" charset="0"/>
                  </a:rPr>
                  <a:t>Formula: -</a:t>
                </a:r>
                <a:r>
                  <a:rPr lang="en-US" sz="1800" dirty="0">
                    <a:effectLst/>
                    <a:latin typeface="Cambria" panose="02040503050406030204" pitchFamily="18" charset="0"/>
                    <a:ea typeface="Calibri" panose="020F0502020204030204" pitchFamily="34" charset="0"/>
                    <a:cs typeface="Times New Roman" panose="02020603050405020304" pitchFamily="18" charset="0"/>
                  </a:rPr>
                  <a:t> 2dsinθ=n</a:t>
                </a:r>
                <a:r>
                  <a:rPr lang="en-US" sz="1800" dirty="0">
                    <a:effectLst/>
                    <a:latin typeface="Cambria" panose="02040503050406030204" pitchFamily="18" charset="0"/>
                    <a:ea typeface="Calibri" panose="020F0502020204030204" pitchFamily="34" charset="0"/>
                    <a:cs typeface="Cambria Math" panose="02040503050406030204" pitchFamily="18" charset="0"/>
                  </a:rPr>
                  <a:t>𝜆</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pP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pPr>
                <a:r>
                  <a:rPr lang="en-US" sz="1800" b="1" u="sng" dirty="0">
                    <a:effectLst/>
                    <a:latin typeface="Cambria" panose="02040503050406030204" pitchFamily="18" charset="0"/>
                    <a:ea typeface="Calibri" panose="020F0502020204030204" pitchFamily="34" charset="0"/>
                    <a:cs typeface="Times New Roman" panose="02020603050405020304" pitchFamily="18" charset="0"/>
                  </a:rPr>
                  <a:t>Solution: -</a:t>
                </a: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r>
                  <a:rPr lang="en-US" sz="1800" dirty="0">
                    <a:effectLst/>
                    <a:latin typeface="Cambria" panose="02040503050406030204" pitchFamily="18" charset="0"/>
                    <a:ea typeface="Calibri" panose="020F0502020204030204" pitchFamily="34" charset="0"/>
                    <a:cs typeface="Cambria Math" panose="02040503050406030204" pitchFamily="18" charset="0"/>
                  </a:rPr>
                  <a:t>𝜆</a:t>
                </a:r>
                <a:r>
                  <a:rPr lang="en-US" sz="1800" dirty="0">
                    <a:effectLst/>
                    <a:latin typeface="Cambria" panose="02040503050406030204" pitchFamily="18" charset="0"/>
                    <a:ea typeface="Calibri" panose="020F0502020204030204" pitchFamily="34" charset="0"/>
                    <a:cs typeface="Times New Roman" panose="02020603050405020304" pitchFamily="18" charset="0"/>
                  </a:rPr>
                  <a:t>=</a:t>
                </a:r>
                <a14:m>
                  <m:oMath xmlns:m="http://schemas.openxmlformats.org/officeDocument/2006/math">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a:effectLst/>
                            <a:latin typeface="Cambria Math" panose="02040503050406030204" pitchFamily="18" charset="0"/>
                            <a:ea typeface="Calibri" panose="020F0502020204030204" pitchFamily="34" charset="0"/>
                            <a:cs typeface="Times New Roman" panose="02020603050405020304" pitchFamily="18" charset="0"/>
                          </a:rPr>
                          <m:t>2</m:t>
                        </m:r>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dsinθ</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𝑛</m:t>
                        </m:r>
                      </m:den>
                    </m:f>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=2 x 2.82 x 10</a:t>
                </a:r>
                <a:r>
                  <a:rPr lang="en-US" sz="1800" baseline="30000" dirty="0">
                    <a:effectLst/>
                    <a:latin typeface="Cambria" panose="02040503050406030204" pitchFamily="18" charset="0"/>
                    <a:ea typeface="Times New Roman" panose="02020603050405020304" pitchFamily="18" charset="0"/>
                    <a:cs typeface="Times New Roman" panose="02020603050405020304" pitchFamily="18" charset="0"/>
                  </a:rPr>
                  <a:t>-10 </a:t>
                </a: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x sin8.8</a:t>
                </a:r>
                <a:r>
                  <a:rPr lang="en-US" sz="1800" baseline="30000" dirty="0">
                    <a:effectLst/>
                    <a:latin typeface="Cambria" panose="02040503050406030204" pitchFamily="18" charset="0"/>
                    <a:ea typeface="Times New Roman" panose="02020603050405020304" pitchFamily="18" charset="0"/>
                    <a:cs typeface="Times New Roman" panose="02020603050405020304" pitchFamily="18" charset="0"/>
                  </a:rPr>
                  <a:t>0</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pP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r>
                  <a:rPr lang="en-US" sz="1800" dirty="0">
                    <a:effectLst/>
                    <a:latin typeface="Cambria" panose="02040503050406030204" pitchFamily="18" charset="0"/>
                    <a:ea typeface="Calibri" panose="020F0502020204030204" pitchFamily="34" charset="0"/>
                    <a:cs typeface="Cambria Math" panose="02040503050406030204" pitchFamily="18" charset="0"/>
                  </a:rPr>
                  <a:t>𝜆</a:t>
                </a:r>
                <a:r>
                  <a:rPr lang="en-US" sz="1800" dirty="0">
                    <a:effectLst/>
                    <a:latin typeface="Cambria" panose="02040503050406030204" pitchFamily="18" charset="0"/>
                    <a:ea typeface="Calibri" panose="020F0502020204030204" pitchFamily="34" charset="0"/>
                    <a:cs typeface="Times New Roman" panose="02020603050405020304" pitchFamily="18" charset="0"/>
                  </a:rPr>
                  <a:t>=</a:t>
                </a:r>
                <a:r>
                  <a:rPr lang="en-US" sz="1800" dirty="0">
                    <a:effectLst/>
                    <a:highlight>
                      <a:srgbClr val="FFFF00"/>
                    </a:highlight>
                    <a:latin typeface="Cambria" panose="02040503050406030204" pitchFamily="18" charset="0"/>
                    <a:ea typeface="Calibri" panose="020F0502020204030204" pitchFamily="34" charset="0"/>
                    <a:cs typeface="Times New Roman" panose="02020603050405020304" pitchFamily="18" charset="0"/>
                  </a:rPr>
                  <a:t>8.628x10</a:t>
                </a:r>
                <a:r>
                  <a:rPr lang="en-US" sz="1800" baseline="30000" dirty="0">
                    <a:effectLst/>
                    <a:highlight>
                      <a:srgbClr val="FFFF00"/>
                    </a:highlight>
                    <a:latin typeface="Cambria" panose="02040503050406030204" pitchFamily="18" charset="0"/>
                    <a:ea typeface="Calibri" panose="020F0502020204030204" pitchFamily="34" charset="0"/>
                    <a:cs typeface="Times New Roman" panose="02020603050405020304" pitchFamily="18" charset="0"/>
                  </a:rPr>
                  <a:t>-11</a:t>
                </a:r>
                <a:r>
                  <a:rPr lang="en-US" sz="1800" dirty="0">
                    <a:effectLst/>
                    <a:highlight>
                      <a:srgbClr val="FFFF00"/>
                    </a:highlight>
                    <a:latin typeface="Cambria" panose="02040503050406030204" pitchFamily="18" charset="0"/>
                    <a:ea typeface="Calibri" panose="020F0502020204030204" pitchFamily="34" charset="0"/>
                    <a:cs typeface="Times New Roman" panose="02020603050405020304" pitchFamily="18" charset="0"/>
                  </a:rPr>
                  <a:t>m</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pP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r>
                  <a:rPr lang="en-US" sz="1800" dirty="0">
                    <a:effectLst/>
                    <a:latin typeface="Cambria" panose="02040503050406030204" pitchFamily="18" charset="0"/>
                    <a:ea typeface="Calibri" panose="020F0502020204030204" pitchFamily="34" charset="0"/>
                    <a:cs typeface="Cambria Math" panose="02040503050406030204" pitchFamily="18" charset="0"/>
                  </a:rPr>
                  <a:t>𝜆</a:t>
                </a:r>
                <a:r>
                  <a:rPr lang="en-US" sz="1800" dirty="0">
                    <a:effectLst/>
                    <a:highlight>
                      <a:srgbClr val="FFFF00"/>
                    </a:highlight>
                    <a:latin typeface="Cambria" panose="02040503050406030204" pitchFamily="18" charset="0"/>
                    <a:ea typeface="Calibri" panose="020F0502020204030204" pitchFamily="34" charset="0"/>
                    <a:cs typeface="Times New Roman" panose="02020603050405020304" pitchFamily="18" charset="0"/>
                  </a:rPr>
                  <a:t>=0.8628 A</a:t>
                </a:r>
                <a:r>
                  <a:rPr lang="en-US" sz="1800" baseline="30000" dirty="0">
                    <a:effectLst/>
                    <a:highlight>
                      <a:srgbClr val="FFFF00"/>
                    </a:highlight>
                    <a:latin typeface="Cambria" panose="02040503050406030204" pitchFamily="18" charset="0"/>
                    <a:ea typeface="Calibri" panose="020F0502020204030204" pitchFamily="34" charset="0"/>
                    <a:cs typeface="Times New Roman" panose="02020603050405020304" pitchFamily="18" charset="0"/>
                  </a:rPr>
                  <a:t>0</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spcAft>
                    <a:spcPts val="1000"/>
                  </a:spcAft>
                </a:pPr>
                <a:r>
                  <a:rPr lang="en-US" sz="1800" b="1" u="sng" dirty="0">
                    <a:effectLst/>
                    <a:latin typeface="Cambria" panose="02040503050406030204" pitchFamily="18" charset="0"/>
                    <a:ea typeface="Calibri" panose="020F0502020204030204" pitchFamily="34" charset="0"/>
                    <a:cs typeface="Times New Roman" panose="02020603050405020304" pitchFamily="18" charset="0"/>
                  </a:rPr>
                  <a:t>Ans:</a:t>
                </a:r>
                <a:r>
                  <a:rPr lang="en-US" sz="1800" u="sng" dirty="0">
                    <a:effectLst/>
                    <a:latin typeface="Cambria" panose="02040503050406030204" pitchFamily="18" charset="0"/>
                    <a:ea typeface="Calibri" panose="020F0502020204030204" pitchFamily="34" charset="0"/>
                    <a:cs typeface="Times New Roman" panose="02020603050405020304" pitchFamily="18" charset="0"/>
                  </a:rPr>
                  <a:t> - wavelength of x-ray is 	0.8628 A</a:t>
                </a:r>
                <a:r>
                  <a:rPr lang="en-US" sz="1800" u="sng" baseline="30000" dirty="0">
                    <a:effectLst/>
                    <a:latin typeface="Cambria" panose="02040503050406030204" pitchFamily="18" charset="0"/>
                    <a:ea typeface="Calibri" panose="020F0502020204030204" pitchFamily="34" charset="0"/>
                    <a:cs typeface="Times New Roman" panose="02020603050405020304" pitchFamily="18" charset="0"/>
                  </a:rPr>
                  <a:t>0</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0" indent="0">
                  <a:buNone/>
                </a:pPr>
                <a:endParaRPr lang="en-IN" dirty="0"/>
              </a:p>
            </p:txBody>
          </p:sp>
        </mc:Choice>
        <mc:Fallback>
          <p:sp>
            <p:nvSpPr>
              <p:cNvPr id="3" name="Content Placeholder 2">
                <a:extLst>
                  <a:ext uri="{FF2B5EF4-FFF2-40B4-BE49-F238E27FC236}">
                    <a16:creationId xmlns:a16="http://schemas.microsoft.com/office/drawing/2014/main" id="{E39483C0-E61F-484D-8334-5CA907E6B7BE}"/>
                  </a:ext>
                </a:extLst>
              </p:cNvPr>
              <p:cNvSpPr>
                <a:spLocks noGrp="1" noRot="1" noChangeAspect="1" noMove="1" noResize="1" noEditPoints="1" noAdjustHandles="1" noChangeArrowheads="1" noChangeShapeType="1" noTextEdit="1"/>
              </p:cNvSpPr>
              <p:nvPr>
                <p:ph idx="1"/>
              </p:nvPr>
            </p:nvSpPr>
            <p:spPr>
              <a:xfrm>
                <a:off x="838200" y="1690688"/>
                <a:ext cx="10515600" cy="4024669"/>
              </a:xfrm>
              <a:blipFill>
                <a:blip r:embed="rId2"/>
                <a:stretch>
                  <a:fillRect t="-454"/>
                </a:stretch>
              </a:blipFill>
            </p:spPr>
            <p:txBody>
              <a:bodyPr/>
              <a:lstStyle/>
              <a:p>
                <a:r>
                  <a:rPr lang="en-IN">
                    <a:noFill/>
                  </a:rPr>
                  <a:t> </a:t>
                </a:r>
              </a:p>
            </p:txBody>
          </p:sp>
        </mc:Fallback>
      </mc:AlternateContent>
    </p:spTree>
    <p:extLst>
      <p:ext uri="{BB962C8B-B14F-4D97-AF65-F5344CB8AC3E}">
        <p14:creationId xmlns:p14="http://schemas.microsoft.com/office/powerpoint/2010/main" val="861786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1DAE6-F675-4257-B9C1-A7D3CD057328}"/>
              </a:ext>
            </a:extLst>
          </p:cNvPr>
          <p:cNvSpPr>
            <a:spLocks noGrp="1"/>
          </p:cNvSpPr>
          <p:nvPr>
            <p:ph type="title"/>
          </p:nvPr>
        </p:nvSpPr>
        <p:spPr/>
        <p:txBody>
          <a:bodyPr>
            <a:normAutofit fontScale="90000"/>
          </a:bodyPr>
          <a:lstStyle/>
          <a:p>
            <a:pPr>
              <a:lnSpc>
                <a:spcPct val="115000"/>
              </a:lnSpc>
              <a:spcAft>
                <a:spcPts val="1000"/>
              </a:spcAft>
            </a:pPr>
            <a:r>
              <a:rPr lang="en-US" sz="1800" u="none" strike="noStrike" dirty="0">
                <a:effectLst/>
                <a:latin typeface="Cambria" panose="02040503050406030204" pitchFamily="18" charset="0"/>
                <a:ea typeface="Calibri" panose="020F0502020204030204" pitchFamily="34" charset="0"/>
                <a:cs typeface="Times New Roman" panose="02020603050405020304" pitchFamily="18" charset="0"/>
              </a:rPr>
              <a:t> </a:t>
            </a:r>
            <a:br>
              <a:rPr lang="en-IN" sz="1800" dirty="0">
                <a:effectLst/>
                <a:latin typeface="Calibri" panose="020F0502020204030204" pitchFamily="34" charset="0"/>
                <a:ea typeface="Calibri" panose="020F0502020204030204" pitchFamily="34" charset="0"/>
                <a:cs typeface="Mangal" panose="02040503050203030202" pitchFamily="18" charset="0"/>
              </a:rPr>
            </a:br>
            <a:r>
              <a:rPr lang="en-US" sz="1800" b="1" dirty="0">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Q6.</a:t>
            </a:r>
            <a:r>
              <a:rPr lang="en-US" sz="1800" dirty="0">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Monochromatic X-ray beam of wavelength A 5.8189 Å is reflected strongly for glancing angle of 0 75.86° in the first order by certain planes of cubic crystal of lattice constant 3 </a:t>
            </a:r>
            <a:r>
              <a:rPr lang="en-US" sz="1800" dirty="0" err="1">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A</a:t>
            </a:r>
            <a:r>
              <a:rPr lang="en-US" sz="1800" baseline="30000" dirty="0" err="1">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o</a:t>
            </a:r>
            <a:r>
              <a:rPr lang="en-US" sz="1800" dirty="0">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 Determine Miller indices of the possible reflecting planes.</a:t>
            </a:r>
            <a:br>
              <a:rPr lang="en-IN" sz="18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EE36F45-C483-479C-A827-8682EB63C208}"/>
                  </a:ext>
                </a:extLst>
              </p:cNvPr>
              <p:cNvSpPr>
                <a:spLocks noGrp="1"/>
              </p:cNvSpPr>
              <p:nvPr>
                <p:ph idx="1"/>
              </p:nvPr>
            </p:nvSpPr>
            <p:spPr/>
            <p:txBody>
              <a:bodyPr>
                <a:normAutofit fontScale="92500" lnSpcReduction="20000"/>
              </a:bodyPr>
              <a:lstStyle/>
              <a:p>
                <a:pPr marL="457200">
                  <a:lnSpc>
                    <a:spcPct val="115000"/>
                  </a:lnSpc>
                </a:pPr>
                <a:r>
                  <a:rPr lang="en-US" sz="1800" b="1" dirty="0">
                    <a:effectLst/>
                    <a:latin typeface="Cambria" panose="02040503050406030204" pitchFamily="18" charset="0"/>
                    <a:ea typeface="Calibri" panose="020F0502020204030204" pitchFamily="34" charset="0"/>
                    <a:cs typeface="Times New Roman" panose="02020603050405020304" pitchFamily="18" charset="0"/>
                  </a:rPr>
                  <a:t>Given:</a:t>
                </a:r>
                <a:r>
                  <a:rPr lang="en-US" sz="1800" dirty="0">
                    <a:effectLst/>
                    <a:latin typeface="Cambria" panose="02040503050406030204" pitchFamily="18" charset="0"/>
                    <a:ea typeface="Calibri" panose="020F0502020204030204" pitchFamily="34" charset="0"/>
                    <a:cs typeface="Times New Roman" panose="02020603050405020304" pitchFamily="18" charset="0"/>
                  </a:rPr>
                  <a:t> -=5.8189 A</a:t>
                </a:r>
                <a:r>
                  <a:rPr lang="en-US" sz="1800" baseline="30000" dirty="0">
                    <a:effectLst/>
                    <a:latin typeface="Cambria" panose="02040503050406030204" pitchFamily="18" charset="0"/>
                    <a:ea typeface="Calibri" panose="020F0502020204030204" pitchFamily="34" charset="0"/>
                    <a:cs typeface="Times New Roman" panose="02020603050405020304" pitchFamily="18" charset="0"/>
                  </a:rPr>
                  <a:t>0</a:t>
                </a:r>
                <a:r>
                  <a:rPr lang="en-US" sz="1800" dirty="0">
                    <a:effectLst/>
                    <a:latin typeface="Cambria" panose="02040503050406030204" pitchFamily="18" charset="0"/>
                    <a:ea typeface="Calibri" panose="020F0502020204030204" pitchFamily="34" charset="0"/>
                    <a:cs typeface="Times New Roman" panose="02020603050405020304" pitchFamily="18" charset="0"/>
                  </a:rPr>
                  <a:t> ,θ=75.86</a:t>
                </a:r>
                <a:r>
                  <a:rPr lang="en-US" sz="1800" baseline="30000" dirty="0">
                    <a:effectLst/>
                    <a:latin typeface="Cambria" panose="02040503050406030204" pitchFamily="18" charset="0"/>
                    <a:ea typeface="Calibri" panose="020F0502020204030204" pitchFamily="34" charset="0"/>
                    <a:cs typeface="Times New Roman" panose="02020603050405020304" pitchFamily="18" charset="0"/>
                  </a:rPr>
                  <a:t>o</a:t>
                </a:r>
                <a:r>
                  <a:rPr lang="en-US" sz="1800" dirty="0">
                    <a:effectLst/>
                    <a:latin typeface="Cambria" panose="02040503050406030204" pitchFamily="18" charset="0"/>
                    <a:ea typeface="Calibri" panose="020F0502020204030204" pitchFamily="34" charset="0"/>
                    <a:cs typeface="Times New Roman" panose="02020603050405020304" pitchFamily="18" charset="0"/>
                  </a:rPr>
                  <a:t>, n=1, a=3 </a:t>
                </a:r>
                <a:r>
                  <a:rPr lang="en-US" sz="1800" dirty="0" err="1">
                    <a:effectLst/>
                    <a:latin typeface="Cambria" panose="02040503050406030204" pitchFamily="18" charset="0"/>
                    <a:ea typeface="Calibri" panose="020F0502020204030204" pitchFamily="34" charset="0"/>
                    <a:cs typeface="Times New Roman" panose="02020603050405020304" pitchFamily="18" charset="0"/>
                  </a:rPr>
                  <a:t>A</a:t>
                </a:r>
                <a:r>
                  <a:rPr lang="en-US" sz="1800" baseline="30000" dirty="0" err="1">
                    <a:effectLst/>
                    <a:latin typeface="Cambria" panose="02040503050406030204" pitchFamily="18" charset="0"/>
                    <a:ea typeface="Calibri" panose="020F0502020204030204" pitchFamily="34" charset="0"/>
                    <a:cs typeface="Times New Roman" panose="02020603050405020304" pitchFamily="18" charset="0"/>
                  </a:rPr>
                  <a:t>o</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pPr>
                <a:r>
                  <a:rPr lang="en-US" sz="1800" b="1" dirty="0">
                    <a:effectLst/>
                    <a:latin typeface="Cambria" panose="02040503050406030204" pitchFamily="18" charset="0"/>
                    <a:ea typeface="Calibri" panose="020F0502020204030204" pitchFamily="34" charset="0"/>
                    <a:cs typeface="Times New Roman" panose="02020603050405020304" pitchFamily="18" charset="0"/>
                  </a:rPr>
                  <a:t>Formula:</a:t>
                </a:r>
                <a:r>
                  <a:rPr lang="en-US" sz="1800" dirty="0">
                    <a:effectLst/>
                    <a:latin typeface="Cambria" panose="02040503050406030204" pitchFamily="18" charset="0"/>
                    <a:ea typeface="Calibri" panose="020F0502020204030204" pitchFamily="34" charset="0"/>
                    <a:cs typeface="Times New Roman" panose="02020603050405020304" pitchFamily="18" charset="0"/>
                  </a:rPr>
                  <a:t> - 2dsinθ=n</a:t>
                </a:r>
                <a:r>
                  <a:rPr lang="en-US" sz="1800" dirty="0">
                    <a:effectLst/>
                    <a:latin typeface="Cambria" panose="02040503050406030204" pitchFamily="18" charset="0"/>
                    <a:ea typeface="Calibri" panose="020F0502020204030204" pitchFamily="34" charset="0"/>
                    <a:cs typeface="Cambria Math" panose="02040503050406030204" pitchFamily="18" charset="0"/>
                  </a:rPr>
                  <a:t>𝜆</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pPr>
                <a:r>
                  <a:rPr lang="en-US" sz="1800" dirty="0">
                    <a:effectLst/>
                    <a:latin typeface="Cambria" panose="02040503050406030204" pitchFamily="18" charset="0"/>
                    <a:ea typeface="Calibri" panose="020F0502020204030204" pitchFamily="34" charset="0"/>
                    <a:cs typeface="Times New Roman" panose="02020603050405020304" pitchFamily="18" charset="0"/>
                  </a:rPr>
                  <a:t>		d=</a:t>
                </a:r>
                <a14:m>
                  <m:oMath xmlns:m="http://schemas.openxmlformats.org/officeDocument/2006/math">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num>
                      <m:den>
                        <m:rad>
                          <m:radPr>
                            <m:degHide m:val="on"/>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radPr>
                          <m:deg/>
                          <m:e>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h</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𝑙</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e>
                        </m:rad>
                      </m:den>
                    </m:f>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pPr>
                <a:r>
                  <a:rPr lang="en-US" sz="1800" b="1" u="sng" dirty="0">
                    <a:effectLst/>
                    <a:latin typeface="Cambria" panose="02040503050406030204" pitchFamily="18" charset="0"/>
                    <a:ea typeface="Times New Roman" panose="02020603050405020304" pitchFamily="18" charset="0"/>
                    <a:cs typeface="Times New Roman" panose="02020603050405020304" pitchFamily="18" charset="0"/>
                  </a:rPr>
                  <a:t>Solution:</a:t>
                </a: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   </a:t>
                </a:r>
                <a:r>
                  <a:rPr lang="en-US" sz="1800" dirty="0">
                    <a:effectLst/>
                    <a:latin typeface="Cambria" panose="02040503050406030204" pitchFamily="18" charset="0"/>
                    <a:ea typeface="Calibri" panose="020F0502020204030204" pitchFamily="34" charset="0"/>
                    <a:cs typeface="Times New Roman" panose="02020603050405020304" pitchFamily="18" charset="0"/>
                  </a:rPr>
                  <a:t>2dsinθ=n</a:t>
                </a:r>
                <a:r>
                  <a:rPr lang="en-US" sz="1800" dirty="0">
                    <a:effectLst/>
                    <a:latin typeface="Cambria" panose="02040503050406030204" pitchFamily="18" charset="0"/>
                    <a:ea typeface="Calibri" panose="020F0502020204030204" pitchFamily="34" charset="0"/>
                    <a:cs typeface="Cambria Math" panose="02040503050406030204" pitchFamily="18" charset="0"/>
                  </a:rPr>
                  <a:t>𝜆</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pPr>
                <a:r>
                  <a:rPr lang="en-US" sz="1800" dirty="0">
                    <a:effectLst/>
                    <a:latin typeface="Cambria" panose="02040503050406030204" pitchFamily="18" charset="0"/>
                    <a:ea typeface="Calibri" panose="020F0502020204030204" pitchFamily="34" charset="0"/>
                    <a:cs typeface="Times New Roman" panose="02020603050405020304" pitchFamily="18" charset="0"/>
                  </a:rPr>
                  <a:t>		d=</a:t>
                </a:r>
                <a14:m>
                  <m:oMath xmlns:m="http://schemas.openxmlformats.org/officeDocument/2006/math">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𝑛</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𝜆</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𝑠𝑖𝑛</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𝜃</m:t>
                        </m:r>
                      </m:den>
                    </m:f>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a:t>
                </a:r>
                <a14:m>
                  <m:oMath xmlns:m="http://schemas.openxmlformats.org/officeDocument/2006/math">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x</m:t>
                        </m:r>
                        <m:r>
                          <a:rPr lang="en-US" sz="1800">
                            <a:effectLst/>
                            <a:latin typeface="Cambria Math" panose="02040503050406030204" pitchFamily="18" charset="0"/>
                            <a:ea typeface="Times New Roman" panose="02020603050405020304" pitchFamily="18" charset="0"/>
                            <a:cs typeface="Times New Roman" panose="02020603050405020304" pitchFamily="18" charset="0"/>
                          </a:rPr>
                          <m:t>5.8189</m:t>
                        </m:r>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x</m:t>
                        </m:r>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−10</m:t>
                            </m:r>
                          </m:sup>
                        </m:sSup>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x</m:t>
                        </m:r>
                        <m:r>
                          <a:rPr lang="en-US" sz="1800">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sin</m:t>
                        </m:r>
                        <m:r>
                          <a:rPr lang="en-US" sz="1800">
                            <a:effectLst/>
                            <a:latin typeface="Cambria Math" panose="02040503050406030204" pitchFamily="18" charset="0"/>
                            <a:ea typeface="Times New Roman" panose="02020603050405020304" pitchFamily="18" charset="0"/>
                            <a:cs typeface="Times New Roman" panose="02020603050405020304" pitchFamily="18" charset="0"/>
                          </a:rPr>
                          <m:t>75.86</m:t>
                        </m:r>
                      </m:den>
                    </m:f>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=3x10</a:t>
                </a:r>
                <a:r>
                  <a:rPr lang="en-US" sz="1800" baseline="30000" dirty="0">
                    <a:effectLst/>
                    <a:latin typeface="Cambria" panose="02040503050406030204" pitchFamily="18" charset="0"/>
                    <a:ea typeface="Times New Roman" panose="02020603050405020304" pitchFamily="18" charset="0"/>
                    <a:cs typeface="Times New Roman" panose="02020603050405020304" pitchFamily="18" charset="0"/>
                  </a:rPr>
                  <a:t>-10</a:t>
                </a: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m</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914400" indent="457200">
                  <a:lnSpc>
                    <a:spcPct val="115000"/>
                  </a:lnSpc>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but,  </a:t>
                </a:r>
                <a:r>
                  <a:rPr lang="en-US" sz="1800" dirty="0">
                    <a:effectLst/>
                    <a:latin typeface="Cambria" panose="02040503050406030204" pitchFamily="18" charset="0"/>
                    <a:ea typeface="Calibri" panose="020F0502020204030204" pitchFamily="34" charset="0"/>
                    <a:cs typeface="Times New Roman" panose="02020603050405020304" pitchFamily="18" charset="0"/>
                  </a:rPr>
                  <a:t>d=</a:t>
                </a:r>
                <a14:m>
                  <m:oMath xmlns:m="http://schemas.openxmlformats.org/officeDocument/2006/math">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num>
                      <m:den>
                        <m:rad>
                          <m:radPr>
                            <m:degHide m:val="on"/>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radPr>
                          <m:deg/>
                          <m:e>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h</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𝑙</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e>
                        </m:rad>
                      </m:den>
                    </m:f>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14:m>
                  <m:oMath xmlns:m="http://schemas.openxmlformats.org/officeDocument/2006/math">
                    <m:rad>
                      <m:radPr>
                        <m:degHide m:val="on"/>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radPr>
                      <m:deg/>
                      <m:e>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h</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𝑙</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e>
                    </m:rad>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𝑎</m:t>
                        </m:r>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𝑑</m:t>
                        </m:r>
                      </m:den>
                    </m:f>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 </a:t>
                </a:r>
                <a14:m>
                  <m:oMath xmlns:m="http://schemas.openxmlformats.org/officeDocument/2006/math">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3</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m:t>
                        </m:r>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−10</m:t>
                            </m:r>
                          </m:sup>
                        </m:sSup>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3</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m:t>
                        </m:r>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−10</m:t>
                            </m:r>
                          </m:sup>
                        </m:sSup>
                      </m:den>
                    </m:f>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=1</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Hence the only possible (hkl) are(100),(010),(001)</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r>
                  <a:rPr lang="en-US" sz="1800" b="1" u="sng" dirty="0">
                    <a:effectLst/>
                    <a:latin typeface="Cambria" panose="02040503050406030204" pitchFamily="18" charset="0"/>
                    <a:ea typeface="Times New Roman" panose="02020603050405020304" pitchFamily="18" charset="0"/>
                    <a:cs typeface="Times New Roman" panose="02020603050405020304" pitchFamily="18" charset="0"/>
                  </a:rPr>
                  <a:t>Ans: -</a:t>
                </a:r>
                <a:r>
                  <a:rPr lang="en-US" sz="1800" u="sng" dirty="0">
                    <a:effectLst/>
                    <a:latin typeface="Cambria" panose="02040503050406030204" pitchFamily="18" charset="0"/>
                    <a:ea typeface="Times New Roman" panose="02020603050405020304" pitchFamily="18" charset="0"/>
                    <a:cs typeface="Times New Roman" panose="02020603050405020304" pitchFamily="18" charset="0"/>
                  </a:rPr>
                  <a:t> miller indices (</a:t>
                </a:r>
                <a:r>
                  <a:rPr lang="en-US" sz="1800" u="sng" dirty="0">
                    <a:effectLst/>
                    <a:highlight>
                      <a:srgbClr val="FFFF00"/>
                    </a:highlight>
                    <a:latin typeface="Cambria" panose="02040503050406030204" pitchFamily="18" charset="0"/>
                    <a:ea typeface="Times New Roman" panose="02020603050405020304" pitchFamily="18" charset="0"/>
                    <a:cs typeface="Times New Roman" panose="02020603050405020304" pitchFamily="18" charset="0"/>
                  </a:rPr>
                  <a:t>hkl</a:t>
                </a:r>
                <a:r>
                  <a:rPr lang="en-US" sz="1800" u="sng" dirty="0">
                    <a:effectLst/>
                    <a:latin typeface="Cambria" panose="02040503050406030204" pitchFamily="18" charset="0"/>
                    <a:ea typeface="Times New Roman" panose="02020603050405020304" pitchFamily="18" charset="0"/>
                    <a:cs typeface="Times New Roman" panose="02020603050405020304" pitchFamily="18" charset="0"/>
                  </a:rPr>
                  <a:t>) is (100).</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0" indent="0">
                  <a:buNone/>
                </a:pPr>
                <a:endParaRPr lang="en-IN" dirty="0"/>
              </a:p>
            </p:txBody>
          </p:sp>
        </mc:Choice>
        <mc:Fallback>
          <p:sp>
            <p:nvSpPr>
              <p:cNvPr id="3" name="Content Placeholder 2">
                <a:extLst>
                  <a:ext uri="{FF2B5EF4-FFF2-40B4-BE49-F238E27FC236}">
                    <a16:creationId xmlns:a16="http://schemas.microsoft.com/office/drawing/2014/main" id="{7EE36F45-C483-479C-A827-8682EB63C208}"/>
                  </a:ext>
                </a:extLst>
              </p:cNvPr>
              <p:cNvSpPr>
                <a:spLocks noGrp="1" noRot="1" noChangeAspect="1" noMove="1" noResize="1" noEditPoints="1" noAdjustHandles="1" noChangeArrowheads="1" noChangeShapeType="1" noTextEdit="1"/>
              </p:cNvSpPr>
              <p:nvPr>
                <p:ph idx="1"/>
              </p:nvPr>
            </p:nvSpPr>
            <p:spPr>
              <a:blipFill>
                <a:blip r:embed="rId2"/>
                <a:stretch>
                  <a:fillRect l="-290" t="-840"/>
                </a:stretch>
              </a:blipFill>
            </p:spPr>
            <p:txBody>
              <a:bodyPr/>
              <a:lstStyle/>
              <a:p>
                <a:r>
                  <a:rPr lang="en-IN">
                    <a:noFill/>
                  </a:rPr>
                  <a:t> </a:t>
                </a:r>
              </a:p>
            </p:txBody>
          </p:sp>
        </mc:Fallback>
      </mc:AlternateContent>
    </p:spTree>
    <p:extLst>
      <p:ext uri="{BB962C8B-B14F-4D97-AF65-F5344CB8AC3E}">
        <p14:creationId xmlns:p14="http://schemas.microsoft.com/office/powerpoint/2010/main" val="3028364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B061E-BA21-4384-B218-C0339CE14EC9}"/>
              </a:ext>
            </a:extLst>
          </p:cNvPr>
          <p:cNvSpPr>
            <a:spLocks noGrp="1"/>
          </p:cNvSpPr>
          <p:nvPr>
            <p:ph type="title"/>
          </p:nvPr>
        </p:nvSpPr>
        <p:spPr>
          <a:xfrm>
            <a:off x="419878" y="419878"/>
            <a:ext cx="10933922" cy="1586204"/>
          </a:xfrm>
        </p:spPr>
        <p:txBody>
          <a:bodyPr>
            <a:normAutofit fontScale="90000"/>
          </a:bodyPr>
          <a:lstStyle/>
          <a:p>
            <a:pPr marL="457200">
              <a:lnSpc>
                <a:spcPct val="115000"/>
              </a:lnSpc>
            </a:pPr>
            <a:r>
              <a:rPr lang="en-US" sz="1800" b="1" dirty="0">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Q7.</a:t>
            </a:r>
            <a:r>
              <a:rPr lang="en-US" sz="1800" dirty="0">
                <a:effectLst/>
                <a:highlight>
                  <a:srgbClr val="00FFFF"/>
                </a:highlight>
                <a:latin typeface="Cambria" panose="02040503050406030204" pitchFamily="18" charset="0"/>
                <a:ea typeface="Calibri" panose="020F0502020204030204" pitchFamily="34" charset="0"/>
                <a:cs typeface="Times New Roman" panose="02020603050405020304" pitchFamily="18" charset="0"/>
              </a:rPr>
              <a:t>Monochromatic high energy X-rays are incident on a crystal. If first order reflection is observed at an angle 3.4° at what angle would second order reflection be expected?</a:t>
            </a:r>
            <a:br>
              <a:rPr lang="en-IN" sz="1800" dirty="0">
                <a:effectLst/>
                <a:latin typeface="Calibri" panose="020F0502020204030204" pitchFamily="34" charset="0"/>
                <a:ea typeface="Calibri" panose="020F0502020204030204" pitchFamily="34" charset="0"/>
                <a:cs typeface="Mangal" panose="02040503050203030202" pitchFamily="18" charset="0"/>
              </a:rPr>
            </a:b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br>
              <a:rPr lang="en-IN" sz="18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58E61BD-DA95-44EB-8EC1-AA42278663A0}"/>
                  </a:ext>
                </a:extLst>
              </p:cNvPr>
              <p:cNvSpPr>
                <a:spLocks noGrp="1"/>
              </p:cNvSpPr>
              <p:nvPr>
                <p:ph idx="1"/>
              </p:nvPr>
            </p:nvSpPr>
            <p:spPr>
              <a:xfrm>
                <a:off x="838200" y="1592359"/>
                <a:ext cx="10515600" cy="4351338"/>
              </a:xfrm>
            </p:spPr>
            <p:txBody>
              <a:bodyPr/>
              <a:lstStyle/>
              <a:p>
                <a:pPr marL="457200">
                  <a:lnSpc>
                    <a:spcPct val="115000"/>
                  </a:lnSpc>
                </a:pPr>
                <a:r>
                  <a:rPr lang="en-US" sz="1800" b="1" dirty="0">
                    <a:effectLst/>
                    <a:latin typeface="Cambria" panose="02040503050406030204" pitchFamily="18" charset="0"/>
                    <a:ea typeface="Calibri" panose="020F0502020204030204" pitchFamily="34" charset="0"/>
                    <a:cs typeface="Times New Roman" panose="02020603050405020304" pitchFamily="18" charset="0"/>
                  </a:rPr>
                  <a:t>Given: -</a:t>
                </a:r>
                <a:r>
                  <a:rPr lang="en-US" sz="1800" dirty="0">
                    <a:effectLst/>
                    <a:latin typeface="Cambria" panose="02040503050406030204" pitchFamily="18" charset="0"/>
                    <a:ea typeface="Calibri" panose="020F0502020204030204" pitchFamily="34" charset="0"/>
                    <a:cs typeface="Times New Roman" panose="02020603050405020304" pitchFamily="18" charset="0"/>
                  </a:rPr>
                  <a:t> n</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1</a:t>
                </a:r>
                <a:r>
                  <a:rPr lang="en-US" sz="1800" dirty="0">
                    <a:effectLst/>
                    <a:latin typeface="Cambria" panose="02040503050406030204" pitchFamily="18" charset="0"/>
                    <a:ea typeface="Calibri" panose="020F0502020204030204" pitchFamily="34" charset="0"/>
                    <a:cs typeface="Times New Roman" panose="02020603050405020304" pitchFamily="18" charset="0"/>
                  </a:rPr>
                  <a:t>=1 , θ</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1</a:t>
                </a:r>
                <a:r>
                  <a:rPr lang="en-US" sz="1800" dirty="0">
                    <a:effectLst/>
                    <a:latin typeface="Cambria" panose="02040503050406030204" pitchFamily="18" charset="0"/>
                    <a:ea typeface="Calibri" panose="020F0502020204030204" pitchFamily="34" charset="0"/>
                    <a:cs typeface="Times New Roman" panose="02020603050405020304" pitchFamily="18" charset="0"/>
                  </a:rPr>
                  <a:t>=3.4</a:t>
                </a:r>
                <a:r>
                  <a:rPr lang="en-US" sz="1800" baseline="30000" dirty="0">
                    <a:effectLst/>
                    <a:latin typeface="Cambria" panose="02040503050406030204" pitchFamily="18" charset="0"/>
                    <a:ea typeface="Calibri" panose="020F0502020204030204" pitchFamily="34" charset="0"/>
                    <a:cs typeface="Times New Roman" panose="02020603050405020304" pitchFamily="18" charset="0"/>
                  </a:rPr>
                  <a:t>o</a:t>
                </a:r>
                <a:r>
                  <a:rPr lang="en-US" sz="1800" dirty="0">
                    <a:effectLst/>
                    <a:latin typeface="Cambria" panose="02040503050406030204" pitchFamily="18" charset="0"/>
                    <a:ea typeface="Calibri" panose="020F0502020204030204" pitchFamily="34" charset="0"/>
                    <a:cs typeface="Times New Roman" panose="02020603050405020304" pitchFamily="18" charset="0"/>
                  </a:rPr>
                  <a:t>, n</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2</a:t>
                </a:r>
                <a:r>
                  <a:rPr lang="en-US" sz="1800" dirty="0">
                    <a:effectLst/>
                    <a:latin typeface="Cambria" panose="02040503050406030204" pitchFamily="18" charset="0"/>
                    <a:ea typeface="Calibri" panose="020F0502020204030204" pitchFamily="34" charset="0"/>
                    <a:cs typeface="Times New Roman" panose="02020603050405020304" pitchFamily="18" charset="0"/>
                  </a:rPr>
                  <a:t>=2, θ</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2</a:t>
                </a:r>
                <a:r>
                  <a:rPr lang="en-US" sz="1800" dirty="0">
                    <a:effectLst/>
                    <a:latin typeface="Cambria" panose="020405030504060302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spcAft>
                    <a:spcPts val="1000"/>
                  </a:spcAft>
                </a:pPr>
                <a:r>
                  <a:rPr lang="en-US" sz="1800" b="1" dirty="0">
                    <a:effectLst/>
                    <a:latin typeface="Cambria" panose="02040503050406030204" pitchFamily="18" charset="0"/>
                    <a:ea typeface="Calibri" panose="020F0502020204030204" pitchFamily="34" charset="0"/>
                    <a:cs typeface="Times New Roman" panose="02020603050405020304" pitchFamily="18" charset="0"/>
                  </a:rPr>
                  <a:t>Formula: -</a:t>
                </a:r>
                <a:r>
                  <a:rPr lang="en-US" sz="1800" dirty="0">
                    <a:effectLst/>
                    <a:latin typeface="Cambria" panose="02040503050406030204" pitchFamily="18" charset="0"/>
                    <a:ea typeface="Calibri" panose="020F0502020204030204" pitchFamily="34" charset="0"/>
                    <a:cs typeface="Times New Roman" panose="02020603050405020304" pitchFamily="18" charset="0"/>
                  </a:rPr>
                  <a:t> 2dsinθ=n</a:t>
                </a:r>
                <a:r>
                  <a:rPr lang="en-US" sz="1800" dirty="0">
                    <a:effectLst/>
                    <a:latin typeface="Cambria" panose="02040503050406030204" pitchFamily="18" charset="0"/>
                    <a:ea typeface="Calibri" panose="020F0502020204030204" pitchFamily="34" charset="0"/>
                    <a:cs typeface="Cambria Math" panose="02040503050406030204" pitchFamily="18" charset="0"/>
                  </a:rPr>
                  <a:t>𝜆</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spcAft>
                    <a:spcPts val="1000"/>
                  </a:spcAft>
                </a:pPr>
                <a:r>
                  <a:rPr lang="en-US" sz="1800" b="1" u="sng" dirty="0">
                    <a:effectLst/>
                    <a:latin typeface="Cambria" panose="02040503050406030204" pitchFamily="18" charset="0"/>
                    <a:ea typeface="Calibri" panose="020F0502020204030204" pitchFamily="34" charset="0"/>
                    <a:cs typeface="Times New Roman" panose="02020603050405020304" pitchFamily="18" charset="0"/>
                  </a:rPr>
                  <a:t>Solution: -</a:t>
                </a:r>
                <a:r>
                  <a:rPr lang="en-US" sz="1800" dirty="0">
                    <a:effectLst/>
                    <a:latin typeface="Cambria" panose="02040503050406030204" pitchFamily="18" charset="0"/>
                    <a:ea typeface="Calibri" panose="020F0502020204030204" pitchFamily="34" charset="0"/>
                    <a:cs typeface="Times New Roman" panose="02020603050405020304" pitchFamily="18" charset="0"/>
                  </a:rPr>
                  <a:t> 2dsinθ</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1</a:t>
                </a:r>
                <a:r>
                  <a:rPr lang="en-US" sz="1800" dirty="0">
                    <a:effectLst/>
                    <a:latin typeface="Cambria" panose="02040503050406030204" pitchFamily="18" charset="0"/>
                    <a:ea typeface="Calibri" panose="020F0502020204030204" pitchFamily="34" charset="0"/>
                    <a:cs typeface="Times New Roman" panose="02020603050405020304" pitchFamily="18" charset="0"/>
                  </a:rPr>
                  <a:t> =n</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1</a:t>
                </a: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r>
                  <a:rPr lang="en-US" sz="1800" dirty="0">
                    <a:effectLst/>
                    <a:latin typeface="Cambria" panose="02040503050406030204" pitchFamily="18" charset="0"/>
                    <a:ea typeface="Calibri" panose="020F0502020204030204" pitchFamily="34" charset="0"/>
                    <a:cs typeface="Cambria Math" panose="02040503050406030204" pitchFamily="18" charset="0"/>
                  </a:rPr>
                  <a:t>𝜆</a:t>
                </a:r>
                <a:r>
                  <a:rPr lang="en-US" sz="1800" dirty="0">
                    <a:effectLst/>
                    <a:latin typeface="Cambria" panose="02040503050406030204" pitchFamily="18" charset="0"/>
                    <a:ea typeface="Calibri" panose="020F0502020204030204" pitchFamily="34" charset="0"/>
                    <a:cs typeface="Times New Roman" panose="02020603050405020304" pitchFamily="18" charset="0"/>
                  </a:rPr>
                  <a:t>	and	2dsinθ</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2</a:t>
                </a:r>
                <a:r>
                  <a:rPr lang="en-US" sz="1800" dirty="0">
                    <a:effectLst/>
                    <a:latin typeface="Cambria" panose="02040503050406030204" pitchFamily="18" charset="0"/>
                    <a:ea typeface="Calibri" panose="020F0502020204030204" pitchFamily="34" charset="0"/>
                    <a:cs typeface="Times New Roman" panose="02020603050405020304" pitchFamily="18" charset="0"/>
                  </a:rPr>
                  <a:t> =n</a:t>
                </a:r>
                <a:r>
                  <a:rPr lang="en-US" sz="1800" baseline="-25000" dirty="0">
                    <a:effectLst/>
                    <a:latin typeface="Cambria" panose="02040503050406030204" pitchFamily="18" charset="0"/>
                    <a:ea typeface="Calibri" panose="020F0502020204030204" pitchFamily="34" charset="0"/>
                    <a:cs typeface="Times New Roman" panose="02020603050405020304" pitchFamily="18" charset="0"/>
                  </a:rPr>
                  <a:t>2</a:t>
                </a: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r>
                  <a:rPr lang="en-US" sz="1800" dirty="0">
                    <a:effectLst/>
                    <a:latin typeface="Cambria" panose="02040503050406030204" pitchFamily="18" charset="0"/>
                    <a:ea typeface="Calibri" panose="020F0502020204030204" pitchFamily="34" charset="0"/>
                    <a:cs typeface="Cambria Math" panose="02040503050406030204" pitchFamily="18" charset="0"/>
                  </a:rPr>
                  <a:t>𝜆</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spcAft>
                    <a:spcPts val="1000"/>
                  </a:spcAft>
                </a:pPr>
                <a:r>
                  <a:rPr lang="en-US" sz="1800" dirty="0">
                    <a:effectLst/>
                    <a:latin typeface="Cambria" panose="02040503050406030204" pitchFamily="18" charset="0"/>
                    <a:ea typeface="Calibri" panose="020F0502020204030204" pitchFamily="34" charset="0"/>
                    <a:cs typeface="Times New Roman" panose="02020603050405020304" pitchFamily="18" charset="0"/>
                  </a:rPr>
                  <a:t>		</a:t>
                </a:r>
                <a14:m>
                  <m:oMath xmlns:m="http://schemas.openxmlformats.org/officeDocument/2006/math">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𝑠𝑖𝑛</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𝜃</m:t>
                        </m:r>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i="1">
                            <a:effectLst/>
                            <a:latin typeface="Cambria Math" panose="02040503050406030204" pitchFamily="18" charset="0"/>
                            <a:ea typeface="Calibri" panose="020F0502020204030204" pitchFamily="34" charset="0"/>
                            <a:cs typeface="Times New Roman" panose="02020603050405020304" pitchFamily="18" charset="0"/>
                          </a:rPr>
                          <m:t>𝑠𝑖𝑛</m:t>
                        </m:r>
                        <m:r>
                          <a:rPr lang="en-US" sz="1800" i="1">
                            <a:effectLst/>
                            <a:latin typeface="Cambria Math" panose="02040503050406030204" pitchFamily="18" charset="0"/>
                            <a:ea typeface="Calibri" panose="020F0502020204030204" pitchFamily="34" charset="0"/>
                            <a:cs typeface="Times New Roman" panose="02020603050405020304" pitchFamily="18" charset="0"/>
                          </a:rPr>
                          <m:t>𝜃</m:t>
                        </m:r>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den>
                    </m:f>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a:t>
                </a:r>
                <a14:m>
                  <m:oMath xmlns:m="http://schemas.openxmlformats.org/officeDocument/2006/math">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num>
                      <m:den>
                        <m:sSub>
                          <m:sSub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sub>
                        </m:sSub>
                      </m:den>
                    </m:f>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sinθ</a:t>
                </a:r>
                <a:r>
                  <a:rPr lang="en-US" sz="1800" baseline="-25000" dirty="0">
                    <a:effectLst/>
                    <a:latin typeface="Cambria" panose="02040503050406030204" pitchFamily="18" charset="0"/>
                    <a:ea typeface="Times New Roman" panose="02020603050405020304" pitchFamily="18" charset="0"/>
                    <a:cs typeface="Times New Roman" panose="02020603050405020304" pitchFamily="18" charset="0"/>
                  </a:rPr>
                  <a:t>2</a:t>
                </a: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a:t>
                </a:r>
                <a14:m>
                  <m:oMath xmlns:m="http://schemas.openxmlformats.org/officeDocument/2006/math">
                    <m:f>
                      <m:fPr>
                        <m:ctrlPr>
                          <a:rPr lang="en-IN"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IN"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t>𝑛</m:t>
                            </m:r>
                          </m:e>
                          <m:sub>
                            <m:r>
                              <a:rPr lang="en-US"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t>2</m:t>
                            </m:r>
                          </m:sub>
                        </m:sSub>
                        <m:r>
                          <a:rPr lang="en-US"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t>𝑠𝑖𝑛</m:t>
                        </m:r>
                        <m:r>
                          <a:rPr lang="en-US"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t>𝜃</m:t>
                        </m:r>
                        <m:r>
                          <a:rPr lang="en-US"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t>1 </m:t>
                        </m:r>
                      </m:num>
                      <m:den>
                        <m:sSub>
                          <m:sSubPr>
                            <m:ctrlPr>
                              <a:rPr lang="en-IN"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t>𝑛</m:t>
                            </m:r>
                          </m:e>
                          <m:sub>
                            <m:r>
                              <a:rPr lang="en-US"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t>1</m:t>
                            </m:r>
                          </m:sub>
                        </m:sSub>
                      </m:den>
                    </m:f>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den>
                    </m:f>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𝑥</m:t>
                    </m:r>
                    <m:func>
                      <m:func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sin</m:t>
                        </m:r>
                      </m:fName>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3.4</m:t>
                        </m:r>
                      </m:e>
                    </m:func>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 0.1186</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θ</a:t>
                </a:r>
                <a:r>
                  <a:rPr lang="en-US" sz="1800" baseline="-25000" dirty="0">
                    <a:effectLst/>
                    <a:latin typeface="Cambria" panose="02040503050406030204" pitchFamily="18" charset="0"/>
                    <a:ea typeface="Times New Roman" panose="02020603050405020304" pitchFamily="18" charset="0"/>
                    <a:cs typeface="Times New Roman" panose="02020603050405020304" pitchFamily="18" charset="0"/>
                  </a:rPr>
                  <a:t>2</a:t>
                </a: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a:t>
                </a:r>
                <a14:m>
                  <m:oMath xmlns:m="http://schemas.openxmlformats.org/officeDocument/2006/math">
                    <m:func>
                      <m:func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uncPr>
                      <m:fName>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m:rPr>
                                <m:sty m:val="p"/>
                              </m:rPr>
                              <a:rPr lang="en-US" sz="1800">
                                <a:effectLst/>
                                <a:latin typeface="Cambria Math" panose="02040503050406030204" pitchFamily="18" charset="0"/>
                                <a:ea typeface="Calibri" panose="020F0502020204030204" pitchFamily="34" charset="0"/>
                                <a:cs typeface="Times New Roman" panose="02020603050405020304" pitchFamily="18" charset="0"/>
                              </a:rPr>
                              <m:t>sin</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−1</m:t>
                            </m:r>
                          </m:sup>
                        </m:sSup>
                      </m:fName>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0.1186</m:t>
                        </m:r>
                      </m:e>
                    </m:func>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=6.812</a:t>
                </a:r>
                <a:r>
                  <a:rPr lang="en-US" sz="1800" baseline="30000" dirty="0">
                    <a:effectLst/>
                    <a:latin typeface="Cambria" panose="02040503050406030204" pitchFamily="18" charset="0"/>
                    <a:ea typeface="Times New Roman" panose="02020603050405020304" pitchFamily="18" charset="0"/>
                    <a:cs typeface="Times New Roman" panose="02020603050405020304" pitchFamily="18" charset="0"/>
                  </a:rPr>
                  <a:t>o</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spcAft>
                    <a:spcPts val="1000"/>
                  </a:spcAft>
                </a:pPr>
                <a:r>
                  <a:rPr lang="en-US" sz="1800" b="1" u="sng" dirty="0">
                    <a:effectLst/>
                    <a:latin typeface="Cambria" panose="02040503050406030204" pitchFamily="18" charset="0"/>
                    <a:ea typeface="Times New Roman" panose="02020603050405020304" pitchFamily="18" charset="0"/>
                    <a:cs typeface="Times New Roman" panose="02020603050405020304" pitchFamily="18" charset="0"/>
                  </a:rPr>
                  <a:t>Ans: -</a:t>
                </a:r>
                <a:r>
                  <a:rPr lang="en-US" sz="1800" u="sng" dirty="0">
                    <a:effectLst/>
                    <a:latin typeface="Cambria" panose="02040503050406030204" pitchFamily="18" charset="0"/>
                    <a:ea typeface="Times New Roman" panose="02020603050405020304" pitchFamily="18" charset="0"/>
                    <a:cs typeface="Times New Roman" panose="02020603050405020304" pitchFamily="18" charset="0"/>
                  </a:rPr>
                  <a:t> hence second order reflection is expected at 6.812</a:t>
                </a:r>
                <a:r>
                  <a:rPr lang="en-US" sz="1800" u="sng" baseline="30000" dirty="0">
                    <a:effectLst/>
                    <a:latin typeface="Cambria" panose="02040503050406030204" pitchFamily="18" charset="0"/>
                    <a:ea typeface="Times New Roman" panose="02020603050405020304" pitchFamily="18" charset="0"/>
                    <a:cs typeface="Times New Roman" panose="02020603050405020304" pitchFamily="18" charset="0"/>
                  </a:rPr>
                  <a:t>0</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0" indent="0">
                  <a:buNone/>
                </a:pPr>
                <a:endParaRPr lang="en-IN" dirty="0"/>
              </a:p>
            </p:txBody>
          </p:sp>
        </mc:Choice>
        <mc:Fallback>
          <p:sp>
            <p:nvSpPr>
              <p:cNvPr id="3" name="Content Placeholder 2">
                <a:extLst>
                  <a:ext uri="{FF2B5EF4-FFF2-40B4-BE49-F238E27FC236}">
                    <a16:creationId xmlns:a16="http://schemas.microsoft.com/office/drawing/2014/main" id="{B58E61BD-DA95-44EB-8EC1-AA42278663A0}"/>
                  </a:ext>
                </a:extLst>
              </p:cNvPr>
              <p:cNvSpPr>
                <a:spLocks noGrp="1" noRot="1" noChangeAspect="1" noMove="1" noResize="1" noEditPoints="1" noAdjustHandles="1" noChangeArrowheads="1" noChangeShapeType="1" noTextEdit="1"/>
              </p:cNvSpPr>
              <p:nvPr>
                <p:ph idx="1"/>
              </p:nvPr>
            </p:nvSpPr>
            <p:spPr>
              <a:xfrm>
                <a:off x="838200" y="1592359"/>
                <a:ext cx="10515600" cy="4351338"/>
              </a:xfrm>
              <a:blipFill>
                <a:blip r:embed="rId2"/>
                <a:stretch>
                  <a:fillRect t="-420"/>
                </a:stretch>
              </a:blipFill>
            </p:spPr>
            <p:txBody>
              <a:bodyPr/>
              <a:lstStyle/>
              <a:p>
                <a:r>
                  <a:rPr lang="en-IN">
                    <a:noFill/>
                  </a:rPr>
                  <a:t> </a:t>
                </a:r>
              </a:p>
            </p:txBody>
          </p:sp>
        </mc:Fallback>
      </mc:AlternateContent>
    </p:spTree>
    <p:extLst>
      <p:ext uri="{BB962C8B-B14F-4D97-AF65-F5344CB8AC3E}">
        <p14:creationId xmlns:p14="http://schemas.microsoft.com/office/powerpoint/2010/main" val="3087755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8A1A9A04-BEBE-47E4-8F87-2DD4364DA0A7}"/>
                  </a:ext>
                </a:extLst>
              </p:cNvPr>
              <p:cNvSpPr>
                <a:spLocks noGrp="1"/>
              </p:cNvSpPr>
              <p:nvPr>
                <p:ph type="title"/>
              </p:nvPr>
            </p:nvSpPr>
            <p:spPr/>
            <p:txBody>
              <a:bodyPr/>
              <a:lstStyle/>
              <a:p>
                <a:r>
                  <a:rPr lang="en-US" sz="1800" b="1"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Q8.</a:t>
                </a:r>
                <a:r>
                  <a:rPr lang="en-US" sz="1800"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Calculate the glancing angle on the (100) plane of rock salt crystal with lattice constant 2.125</a:t>
                </a:r>
                <a14:m>
                  <m:oMath xmlns:m="http://schemas.openxmlformats.org/officeDocument/2006/math">
                    <m:sSup>
                      <m:sSupPr>
                        <m:ctrlPr>
                          <a:rPr lang="en-IN"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𝐴</m:t>
                        </m:r>
                      </m:e>
                      <m:sup>
                        <m:r>
                          <a:rPr lang="en-US"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0</m:t>
                        </m:r>
                      </m:sup>
                    </m:sSup>
                  </m:oMath>
                </a14:m>
                <a:r>
                  <a:rPr lang="en-US" sz="1800"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.Given the wavelength of the incident X ray is 0.592</a:t>
                </a:r>
                <a14:m>
                  <m:oMath xmlns:m="http://schemas.openxmlformats.org/officeDocument/2006/math">
                    <m:sSup>
                      <m:sSupPr>
                        <m:ctrlPr>
                          <a:rPr lang="en-IN"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𝐴</m:t>
                        </m:r>
                      </m:e>
                      <m:sup>
                        <m:r>
                          <a:rPr lang="en-US"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0</m:t>
                        </m:r>
                      </m:sup>
                    </m:sSup>
                  </m:oMath>
                </a14:m>
                <a:r>
                  <a:rPr lang="en-US" sz="1800"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 and this is a case of 2</a:t>
                </a:r>
                <a:r>
                  <a:rPr lang="en-US" sz="1800" baseline="30000"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nd</a:t>
                </a:r>
                <a:r>
                  <a:rPr lang="en-US" sz="1800"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 order maximum</a:t>
                </a:r>
                <a:br>
                  <a:rPr lang="en-IN" sz="18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mc:Choice>
        <mc:Fallback>
          <p:sp>
            <p:nvSpPr>
              <p:cNvPr id="2" name="Title 1">
                <a:extLst>
                  <a:ext uri="{FF2B5EF4-FFF2-40B4-BE49-F238E27FC236}">
                    <a16:creationId xmlns:a16="http://schemas.microsoft.com/office/drawing/2014/main" id="{8A1A9A04-BEBE-47E4-8F87-2DD4364DA0A7}"/>
                  </a:ext>
                </a:extLst>
              </p:cNvPr>
              <p:cNvSpPr>
                <a:spLocks noGrp="1" noRot="1" noChangeAspect="1" noMove="1" noResize="1" noEditPoints="1" noAdjustHandles="1" noChangeArrowheads="1" noChangeShapeType="1" noTextEdit="1"/>
              </p:cNvSpPr>
              <p:nvPr>
                <p:ph type="title"/>
              </p:nvPr>
            </p:nvSpPr>
            <p:spPr>
              <a:blipFill>
                <a:blip r:embed="rId2"/>
                <a:stretch>
                  <a:fillRect l="-522"/>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C42006A-2AFE-484F-B575-343779AF5EB6}"/>
                  </a:ext>
                </a:extLst>
              </p:cNvPr>
              <p:cNvSpPr>
                <a:spLocks noGrp="1"/>
              </p:cNvSpPr>
              <p:nvPr>
                <p:ph idx="1"/>
              </p:nvPr>
            </p:nvSpPr>
            <p:spPr>
              <a:xfrm>
                <a:off x="838200" y="1408922"/>
                <a:ext cx="10515600" cy="4768041"/>
              </a:xfrm>
            </p:spPr>
            <p:txBody>
              <a:bodyPr>
                <a:normAutofit fontScale="85000" lnSpcReduction="10000"/>
              </a:bodyPr>
              <a:lstStyle/>
              <a:p>
                <a:pPr>
                  <a:lnSpc>
                    <a:spcPct val="115000"/>
                  </a:lnSpc>
                  <a:spcAft>
                    <a:spcPts val="1000"/>
                  </a:spcAft>
                </a:pPr>
                <a:r>
                  <a:rPr lang="en-US" sz="1800" b="1" dirty="0">
                    <a:effectLst/>
                    <a:latin typeface="Cambria" panose="02040503050406030204" pitchFamily="18" charset="0"/>
                    <a:ea typeface="Times New Roman" panose="02020603050405020304" pitchFamily="18" charset="0"/>
                    <a:cs typeface="Times New Roman" panose="02020603050405020304" pitchFamily="18" charset="0"/>
                  </a:rPr>
                  <a:t> Given : - </a:t>
                </a: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(kl)=(100) , a= 2.125</a:t>
                </a:r>
                <a14:m>
                  <m:oMath xmlns:m="http://schemas.openxmlformats.org/officeDocument/2006/math">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𝐴</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sup>
                    </m:sSup>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n=2,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λ</m:t>
                    </m:r>
                    <m:r>
                      <a:rPr lang="en-IN" sz="180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0.592</a:t>
                </a:r>
                <a14:m>
                  <m:oMath xmlns:m="http://schemas.openxmlformats.org/officeDocument/2006/math">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𝐴</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sup>
                    </m:sSup>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b="1" dirty="0">
                    <a:effectLst/>
                    <a:latin typeface="Cambria" panose="02040503050406030204" pitchFamily="18" charset="0"/>
                    <a:ea typeface="Times New Roman" panose="02020603050405020304" pitchFamily="18" charset="0"/>
                    <a:cs typeface="Times New Roman" panose="02020603050405020304" pitchFamily="18" charset="0"/>
                  </a:rPr>
                  <a:t>      Formula: - </a:t>
                </a:r>
                <a:r>
                  <a:rPr lang="en-US" sz="1800" dirty="0">
                    <a:effectLst/>
                    <a:highlight>
                      <a:srgbClr val="FFFF00"/>
                    </a:highlight>
                    <a:latin typeface="Cambria" panose="02040503050406030204" pitchFamily="18" charset="0"/>
                    <a:ea typeface="Calibri" panose="020F0502020204030204" pitchFamily="34" charset="0"/>
                    <a:cs typeface="Times New Roman" panose="02020603050405020304" pitchFamily="18" charset="0"/>
                  </a:rPr>
                  <a:t>d=</a:t>
                </a:r>
                <a14:m>
                  <m:oMath xmlns:m="http://schemas.openxmlformats.org/officeDocument/2006/math">
                    <m:f>
                      <m:fPr>
                        <m:ctrlPr>
                          <a:rPr lang="en-IN" sz="1800" i="1">
                            <a:effectLst/>
                            <a:highlight>
                              <a:srgbClr val="FFFF00"/>
                            </a:highligh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highlight>
                              <a:srgbClr val="FFFF00"/>
                            </a:highlight>
                            <a:latin typeface="Cambria Math" panose="02040503050406030204" pitchFamily="18" charset="0"/>
                            <a:ea typeface="Calibri" panose="020F0502020204030204" pitchFamily="34" charset="0"/>
                            <a:cs typeface="Times New Roman" panose="02020603050405020304" pitchFamily="18" charset="0"/>
                          </a:rPr>
                          <m:t>𝑎</m:t>
                        </m:r>
                      </m:num>
                      <m:den>
                        <m:rad>
                          <m:radPr>
                            <m:degHide m:val="on"/>
                            <m:ctrlPr>
                              <a:rPr lang="en-IN" sz="1800" i="1">
                                <a:effectLst/>
                                <a:highlight>
                                  <a:srgbClr val="FFFF00"/>
                                </a:highlight>
                                <a:latin typeface="Cambria Math" panose="02040503050406030204" pitchFamily="18" charset="0"/>
                                <a:ea typeface="Calibri" panose="020F0502020204030204" pitchFamily="34" charset="0"/>
                                <a:cs typeface="Times New Roman" panose="02020603050405020304" pitchFamily="18" charset="0"/>
                              </a:rPr>
                            </m:ctrlPr>
                          </m:radPr>
                          <m:deg/>
                          <m:e>
                            <m:sSup>
                              <m:sSupPr>
                                <m:ctrlPr>
                                  <a:rPr lang="en-IN" sz="1800" i="1">
                                    <a:effectLst/>
                                    <a:highlight>
                                      <a:srgbClr val="FFFF00"/>
                                    </a:highligh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highlight>
                                      <a:srgbClr val="FFFF00"/>
                                    </a:highlight>
                                    <a:latin typeface="Cambria Math" panose="02040503050406030204" pitchFamily="18" charset="0"/>
                                    <a:ea typeface="Calibri" panose="020F0502020204030204" pitchFamily="34" charset="0"/>
                                    <a:cs typeface="Times New Roman" panose="02020603050405020304" pitchFamily="18" charset="0"/>
                                  </a:rPr>
                                  <m:t>h</m:t>
                                </m:r>
                              </m:e>
                              <m:sup>
                                <m:r>
                                  <a:rPr lang="en-US" sz="1800" i="1">
                                    <a:effectLst/>
                                    <a:highlight>
                                      <a:srgbClr val="FFFF00"/>
                                    </a:highligh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a:effectLst/>
                                <a:highlight>
                                  <a:srgbClr val="FFFF00"/>
                                </a:highlight>
                                <a:latin typeface="Cambria Math" panose="02040503050406030204" pitchFamily="18" charset="0"/>
                                <a:ea typeface="Calibri" panose="020F0502020204030204" pitchFamily="34" charset="0"/>
                                <a:cs typeface="Times New Roman" panose="02020603050405020304" pitchFamily="18" charset="0"/>
                              </a:rPr>
                              <m:t>+</m:t>
                            </m:r>
                            <m:sSup>
                              <m:sSupPr>
                                <m:ctrlPr>
                                  <a:rPr lang="en-IN" sz="1800" i="1">
                                    <a:effectLst/>
                                    <a:highlight>
                                      <a:srgbClr val="FFFF00"/>
                                    </a:highligh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highlight>
                                      <a:srgbClr val="FFFF00"/>
                                    </a:highlight>
                                    <a:latin typeface="Cambria Math" panose="02040503050406030204" pitchFamily="18" charset="0"/>
                                    <a:ea typeface="Calibri" panose="020F0502020204030204" pitchFamily="34" charset="0"/>
                                    <a:cs typeface="Times New Roman" panose="02020603050405020304" pitchFamily="18" charset="0"/>
                                  </a:rPr>
                                  <m:t>𝑘</m:t>
                                </m:r>
                              </m:e>
                              <m:sup>
                                <m:r>
                                  <a:rPr lang="en-US" sz="1800" i="1">
                                    <a:effectLst/>
                                    <a:highlight>
                                      <a:srgbClr val="FFFF00"/>
                                    </a:highligh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a:effectLst/>
                                <a:highlight>
                                  <a:srgbClr val="FFFF00"/>
                                </a:highlight>
                                <a:latin typeface="Cambria Math" panose="02040503050406030204" pitchFamily="18" charset="0"/>
                                <a:ea typeface="Calibri" panose="020F0502020204030204" pitchFamily="34" charset="0"/>
                                <a:cs typeface="Times New Roman" panose="02020603050405020304" pitchFamily="18" charset="0"/>
                              </a:rPr>
                              <m:t>+</m:t>
                            </m:r>
                            <m:sSup>
                              <m:sSupPr>
                                <m:ctrlPr>
                                  <a:rPr lang="en-IN" sz="1800" i="1">
                                    <a:effectLst/>
                                    <a:highlight>
                                      <a:srgbClr val="FFFF00"/>
                                    </a:highligh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highlight>
                                      <a:srgbClr val="FFFF00"/>
                                    </a:highlight>
                                    <a:latin typeface="Cambria Math" panose="02040503050406030204" pitchFamily="18" charset="0"/>
                                    <a:ea typeface="Calibri" panose="020F0502020204030204" pitchFamily="34" charset="0"/>
                                    <a:cs typeface="Times New Roman" panose="02020603050405020304" pitchFamily="18" charset="0"/>
                                  </a:rPr>
                                  <m:t>𝑙</m:t>
                                </m:r>
                              </m:e>
                              <m:sup>
                                <m:r>
                                  <a:rPr lang="en-US" sz="1800" i="1">
                                    <a:effectLst/>
                                    <a:highlight>
                                      <a:srgbClr val="FFFF00"/>
                                    </a:highlight>
                                    <a:latin typeface="Cambria Math" panose="02040503050406030204" pitchFamily="18" charset="0"/>
                                    <a:ea typeface="Calibri" panose="020F0502020204030204" pitchFamily="34" charset="0"/>
                                    <a:cs typeface="Times New Roman" panose="02020603050405020304" pitchFamily="18" charset="0"/>
                                  </a:rPr>
                                  <m:t>2</m:t>
                                </m:r>
                              </m:sup>
                            </m:sSup>
                          </m:e>
                        </m:rad>
                      </m:den>
                    </m:f>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  2dsin</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𝜃</m:t>
                    </m:r>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=n </a:t>
                </a:r>
                <a14:m>
                  <m:oMath xmlns:m="http://schemas.openxmlformats.org/officeDocument/2006/math">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λ</m:t>
                    </m:r>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r>
                  <a:rPr lang="en-US" sz="1800" b="1" u="sng" dirty="0">
                    <a:effectLst/>
                    <a:latin typeface="Cambria" panose="02040503050406030204" pitchFamily="18" charset="0"/>
                    <a:ea typeface="Times New Roman" panose="02020603050405020304" pitchFamily="18" charset="0"/>
                    <a:cs typeface="Times New Roman" panose="02020603050405020304" pitchFamily="18" charset="0"/>
                  </a:rPr>
                  <a:t>Solution: -</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r>
                  <a:rPr lang="en-US" sz="1800" dirty="0">
                    <a:effectLst/>
                    <a:highlight>
                      <a:srgbClr val="FFFF00"/>
                    </a:highlight>
                    <a:latin typeface="Cambria" panose="02040503050406030204" pitchFamily="18" charset="0"/>
                    <a:ea typeface="Times New Roman" panose="02020603050405020304" pitchFamily="18" charset="0"/>
                    <a:cs typeface="Times New Roman" panose="02020603050405020304" pitchFamily="18" charset="0"/>
                  </a:rPr>
                  <a:t>d=</a:t>
                </a:r>
                <a14:m>
                  <m:oMath xmlns:m="http://schemas.openxmlformats.org/officeDocument/2006/math">
                    <m:f>
                      <m:fPr>
                        <m:ctrlPr>
                          <a:rPr lang="en-IN"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t>2.125</m:t>
                        </m:r>
                      </m:num>
                      <m:den>
                        <m:rad>
                          <m:radPr>
                            <m:degHide m:val="on"/>
                            <m:ctrlPr>
                              <a:rPr lang="en-IN"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ctrlPr>
                          </m:radPr>
                          <m:deg/>
                          <m:e>
                            <m:sSup>
                              <m:sSupPr>
                                <m:ctrlPr>
                                  <a:rPr lang="en-IN"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t>1</m:t>
                                </m:r>
                              </m:e>
                              <m:sup>
                                <m:r>
                                  <a:rPr lang="en-US"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1800" i="1">
                                <a:effectLst/>
                                <a:highlight>
                                  <a:srgbClr val="FFFF00"/>
                                </a:highlight>
                                <a:latin typeface="Cambria Math" panose="02040503050406030204" pitchFamily="18" charset="0"/>
                                <a:ea typeface="Times New Roman" panose="02020603050405020304" pitchFamily="18" charset="0"/>
                                <a:cs typeface="Times New Roman" panose="02020603050405020304" pitchFamily="18" charset="0"/>
                              </a:rPr>
                              <m:t>+0+0</m:t>
                            </m:r>
                          </m:e>
                        </m:rad>
                      </m:den>
                    </m:f>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2.125</a:t>
                </a:r>
                <a14:m>
                  <m:oMath xmlns:m="http://schemas.openxmlformats.org/officeDocument/2006/math">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𝐴</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sup>
                    </m:sSup>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2dsin</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𝜃</m:t>
                    </m:r>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=n </a:t>
                </a:r>
                <a14:m>
                  <m:oMath xmlns:m="http://schemas.openxmlformats.org/officeDocument/2006/math">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λ</m:t>
                    </m:r>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IN" sz="1800" dirty="0">
                    <a:effectLst/>
                    <a:latin typeface="Cambria" panose="02040503050406030204" pitchFamily="18" charset="0"/>
                    <a:ea typeface="Times New Roman" panose="02020603050405020304" pitchFamily="18" charset="0"/>
                    <a:cs typeface="Times New Roman" panose="02020603050405020304" pitchFamily="18" charset="0"/>
                  </a:rPr>
                  <a:t>                       </a:t>
                </a: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Sin</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𝜃</m:t>
                    </m:r>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a:t>
                </a:r>
                <a14:m>
                  <m:oMath xmlns:m="http://schemas.openxmlformats.org/officeDocument/2006/math">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n</m:t>
                        </m:r>
                        <m:r>
                          <a:rPr lang="en-US" sz="1800">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λ</m:t>
                        </m:r>
                      </m:num>
                      <m:den>
                        <m:r>
                          <a:rPr lang="en-US" sz="1800">
                            <a:effectLst/>
                            <a:latin typeface="Cambria Math" panose="02040503050406030204" pitchFamily="18" charset="0"/>
                            <a:ea typeface="Times New Roman" panose="02020603050405020304" pitchFamily="18" charset="0"/>
                            <a:cs typeface="Times New Roman" panose="02020603050405020304" pitchFamily="18" charset="0"/>
                          </a:rPr>
                          <m:t>2</m:t>
                        </m:r>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d</m:t>
                        </m:r>
                      </m:den>
                    </m:f>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Sin</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𝜃</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0.592</m:t>
                        </m:r>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2.125</m:t>
                        </m:r>
                      </m:den>
                    </m:f>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𝜃</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a:effectLst/>
                        <a:latin typeface="Cambria Math" panose="02040503050406030204" pitchFamily="18" charset="0"/>
                        <a:ea typeface="Times New Roman" panose="02020603050405020304" pitchFamily="18" charset="0"/>
                        <a:cs typeface="Times New Roman" panose="02020603050405020304" pitchFamily="18" charset="0"/>
                      </a:rPr>
                      <m:t>16.1</m:t>
                    </m:r>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a:effectLst/>
                            <a:latin typeface="Cambria Math" panose="02040503050406030204" pitchFamily="18" charset="0"/>
                            <a:ea typeface="Times New Roman" panose="02020603050405020304" pitchFamily="18" charset="0"/>
                            <a:cs typeface="Times New Roman" panose="02020603050405020304" pitchFamily="18" charset="0"/>
                          </a:rPr>
                          <m:t>76</m:t>
                        </m:r>
                      </m:e>
                      <m:sup>
                        <m:r>
                          <a:rPr lang="en-US" sz="1800">
                            <a:effectLst/>
                            <a:latin typeface="Cambria Math" panose="02040503050406030204" pitchFamily="18" charset="0"/>
                            <a:ea typeface="Times New Roman" panose="02020603050405020304" pitchFamily="18" charset="0"/>
                            <a:cs typeface="Times New Roman" panose="02020603050405020304" pitchFamily="18" charset="0"/>
                          </a:rPr>
                          <m:t>0</m:t>
                        </m:r>
                      </m:sup>
                    </m:sSup>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b="1" u="sng" dirty="0">
                    <a:effectLst/>
                    <a:latin typeface="Cambria" panose="02040503050406030204" pitchFamily="18" charset="0"/>
                    <a:ea typeface="Times New Roman" panose="02020603050405020304" pitchFamily="18" charset="0"/>
                    <a:cs typeface="Times New Roman" panose="02020603050405020304" pitchFamily="18" charset="0"/>
                  </a:rPr>
                  <a:t>    Ans: -</a:t>
                </a:r>
                <a:r>
                  <a:rPr lang="en-US" sz="1800" u="sng" dirty="0">
                    <a:effectLst/>
                    <a:latin typeface="Cambria" panose="02040503050406030204" pitchFamily="18" charset="0"/>
                    <a:ea typeface="Times New Roman" panose="02020603050405020304" pitchFamily="18" charset="0"/>
                    <a:cs typeface="Times New Roman" panose="02020603050405020304" pitchFamily="18" charset="0"/>
                  </a:rPr>
                  <a:t> The glancing angle is </a:t>
                </a:r>
                <a14:m>
                  <m:oMath xmlns:m="http://schemas.openxmlformats.org/officeDocument/2006/math">
                    <m:r>
                      <a:rPr lang="en-US" sz="1800" u="sng">
                        <a:effectLst/>
                        <a:latin typeface="Cambria Math" panose="02040503050406030204" pitchFamily="18" charset="0"/>
                        <a:ea typeface="Times New Roman" panose="02020603050405020304" pitchFamily="18" charset="0"/>
                        <a:cs typeface="Times New Roman" panose="02020603050405020304" pitchFamily="18" charset="0"/>
                      </a:rPr>
                      <m:t>16.1</m:t>
                    </m:r>
                    <m:sSup>
                      <m:sSupPr>
                        <m:ctrlPr>
                          <a:rPr lang="en-IN" sz="1800" i="1" u="sng">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u="sng">
                            <a:effectLst/>
                            <a:latin typeface="Cambria Math" panose="02040503050406030204" pitchFamily="18" charset="0"/>
                            <a:ea typeface="Times New Roman" panose="02020603050405020304" pitchFamily="18" charset="0"/>
                            <a:cs typeface="Times New Roman" panose="02020603050405020304" pitchFamily="18" charset="0"/>
                          </a:rPr>
                          <m:t>76</m:t>
                        </m:r>
                      </m:e>
                      <m:sup>
                        <m:r>
                          <a:rPr lang="en-US" sz="1800" u="sng">
                            <a:effectLst/>
                            <a:latin typeface="Cambria Math" panose="02040503050406030204" pitchFamily="18" charset="0"/>
                            <a:ea typeface="Times New Roman" panose="02020603050405020304" pitchFamily="18" charset="0"/>
                            <a:cs typeface="Times New Roman" panose="02020603050405020304" pitchFamily="18" charset="0"/>
                          </a:rPr>
                          <m:t>0</m:t>
                        </m:r>
                      </m:sup>
                    </m:sSup>
                  </m:oMath>
                </a14:m>
                <a:endParaRPr lang="en-IN" dirty="0"/>
              </a:p>
            </p:txBody>
          </p:sp>
        </mc:Choice>
        <mc:Fallback>
          <p:sp>
            <p:nvSpPr>
              <p:cNvPr id="3" name="Content Placeholder 2">
                <a:extLst>
                  <a:ext uri="{FF2B5EF4-FFF2-40B4-BE49-F238E27FC236}">
                    <a16:creationId xmlns:a16="http://schemas.microsoft.com/office/drawing/2014/main" id="{BC42006A-2AFE-484F-B575-343779AF5EB6}"/>
                  </a:ext>
                </a:extLst>
              </p:cNvPr>
              <p:cNvSpPr>
                <a:spLocks noGrp="1" noRot="1" noChangeAspect="1" noMove="1" noResize="1" noEditPoints="1" noAdjustHandles="1" noChangeArrowheads="1" noChangeShapeType="1" noTextEdit="1"/>
              </p:cNvSpPr>
              <p:nvPr>
                <p:ph idx="1"/>
              </p:nvPr>
            </p:nvSpPr>
            <p:spPr>
              <a:xfrm>
                <a:off x="838200" y="1408922"/>
                <a:ext cx="10515600" cy="4768041"/>
              </a:xfrm>
              <a:blipFill>
                <a:blip r:embed="rId3"/>
                <a:stretch>
                  <a:fillRect l="-174" t="-256"/>
                </a:stretch>
              </a:blipFill>
            </p:spPr>
            <p:txBody>
              <a:bodyPr/>
              <a:lstStyle/>
              <a:p>
                <a:r>
                  <a:rPr lang="en-IN">
                    <a:noFill/>
                  </a:rPr>
                  <a:t> </a:t>
                </a:r>
              </a:p>
            </p:txBody>
          </p:sp>
        </mc:Fallback>
      </mc:AlternateContent>
    </p:spTree>
    <p:extLst>
      <p:ext uri="{BB962C8B-B14F-4D97-AF65-F5344CB8AC3E}">
        <p14:creationId xmlns:p14="http://schemas.microsoft.com/office/powerpoint/2010/main" val="3031072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7D90F034-F8EA-405D-8CCF-CCD9B0BDA008}"/>
                  </a:ext>
                </a:extLst>
              </p:cNvPr>
              <p:cNvSpPr>
                <a:spLocks noGrp="1"/>
              </p:cNvSpPr>
              <p:nvPr>
                <p:ph type="title"/>
              </p:nvPr>
            </p:nvSpPr>
            <p:spPr/>
            <p:txBody>
              <a:bodyPr>
                <a:normAutofit fontScale="90000"/>
              </a:bodyPr>
              <a:lstStyle/>
              <a:p>
                <a:r>
                  <a:rPr lang="en-US" sz="1800" b="1"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Q9.</a:t>
                </a:r>
                <a:r>
                  <a:rPr lang="en-US" sz="1800"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Calculate the wavelength of the X ray beam that suffers first order Bragg reflection at a glancing angle </a:t>
                </a:r>
                <a14:m>
                  <m:oMath xmlns:m="http://schemas.openxmlformats.org/officeDocument/2006/math">
                    <m:sSup>
                      <m:sSupPr>
                        <m:ctrlPr>
                          <a:rPr lang="en-IN"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8</m:t>
                        </m:r>
                      </m:e>
                      <m:sup>
                        <m:r>
                          <a:rPr lang="en-US"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0</m:t>
                        </m:r>
                      </m:sup>
                    </m:sSup>
                    <m:sSup>
                      <m:sSupPr>
                        <m:ctrlPr>
                          <a:rPr lang="en-IN"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35</m:t>
                        </m:r>
                      </m:e>
                      <m:sup>
                        <m:r>
                          <a:rPr lang="en-US"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m:t>
                        </m:r>
                      </m:sup>
                    </m:sSup>
                  </m:oMath>
                </a14:m>
                <a:r>
                  <a:rPr lang="en-US" sz="1800"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 from a NaCl crystal with the lattice spacing of 0.282nm. Also calculate the maximum order of diffraction possible.</a:t>
                </a:r>
                <a:br>
                  <a:rPr lang="en-IN" sz="18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mc:Choice>
        <mc:Fallback>
          <p:sp>
            <p:nvSpPr>
              <p:cNvPr id="2" name="Title 1">
                <a:extLst>
                  <a:ext uri="{FF2B5EF4-FFF2-40B4-BE49-F238E27FC236}">
                    <a16:creationId xmlns:a16="http://schemas.microsoft.com/office/drawing/2014/main" id="{7D90F034-F8EA-405D-8CCF-CCD9B0BDA008}"/>
                  </a:ext>
                </a:extLst>
              </p:cNvPr>
              <p:cNvSpPr>
                <a:spLocks noGrp="1" noRot="1" noChangeAspect="1" noMove="1" noResize="1" noEditPoints="1" noAdjustHandles="1" noChangeArrowheads="1" noChangeShapeType="1" noTextEdit="1"/>
              </p:cNvSpPr>
              <p:nvPr>
                <p:ph type="title"/>
              </p:nvPr>
            </p:nvSpPr>
            <p:spPr>
              <a:blipFill>
                <a:blip r:embed="rId2"/>
                <a:stretch>
                  <a:fillRect l="-348"/>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F90050F-BA62-45F3-8FE3-17C941FE39CC}"/>
                  </a:ext>
                </a:extLst>
              </p:cNvPr>
              <p:cNvSpPr>
                <a:spLocks noGrp="1"/>
              </p:cNvSpPr>
              <p:nvPr>
                <p:ph idx="1"/>
              </p:nvPr>
            </p:nvSpPr>
            <p:spPr>
              <a:xfrm>
                <a:off x="838200" y="1399592"/>
                <a:ext cx="10515600" cy="4777371"/>
              </a:xfrm>
            </p:spPr>
            <p:txBody>
              <a:bodyPr>
                <a:normAutofit fontScale="85000" lnSpcReduction="20000"/>
              </a:bodyPr>
              <a:lstStyle/>
              <a:p>
                <a:pPr>
                  <a:lnSpc>
                    <a:spcPct val="115000"/>
                  </a:lnSpc>
                  <a:spcAft>
                    <a:spcPts val="1000"/>
                  </a:spcAft>
                </a:pPr>
                <a:r>
                  <a:rPr lang="en-US" sz="1800" b="1" dirty="0">
                    <a:effectLst/>
                    <a:latin typeface="Cambria" panose="02040503050406030204" pitchFamily="18" charset="0"/>
                    <a:ea typeface="Times New Roman" panose="02020603050405020304" pitchFamily="18" charset="0"/>
                    <a:cs typeface="Times New Roman" panose="02020603050405020304" pitchFamily="18" charset="0"/>
                  </a:rPr>
                  <a:t>Given: -</a:t>
                </a: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n=1,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𝜃</m:t>
                    </m:r>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a:t>
                </a:r>
                <a14:m>
                  <m:oMath xmlns:m="http://schemas.openxmlformats.org/officeDocument/2006/math">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8</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sup>
                    </m:sSup>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35</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up>
                    </m:sSup>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d=0.282nm</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r>
                  <a:rPr lang="en-US" sz="1800" b="1" dirty="0">
                    <a:effectLst/>
                    <a:latin typeface="Cambria" panose="02040503050406030204" pitchFamily="18" charset="0"/>
                    <a:ea typeface="Times New Roman" panose="02020603050405020304" pitchFamily="18" charset="0"/>
                    <a:cs typeface="Times New Roman" panose="02020603050405020304" pitchFamily="18" charset="0"/>
                  </a:rPr>
                  <a:t>Formula: -</a:t>
                </a: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2dsin</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𝜃</m:t>
                    </m:r>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=n </a:t>
                </a:r>
                <a:r>
                  <a:rPr lang="en-IN" sz="1800" dirty="0">
                    <a:effectLst/>
                    <a:latin typeface="Cambria" panose="02040503050406030204" pitchFamily="18" charset="0"/>
                    <a:ea typeface="Times New Roman" panose="02020603050405020304" pitchFamily="18" charset="0"/>
                    <a:cs typeface="Times New Roman" panose="02020603050405020304" pitchFamily="18" charset="0"/>
                  </a:rPr>
                  <a:t>λ	</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b="1" u="sng" dirty="0">
                    <a:effectLst/>
                    <a:latin typeface="Cambria" panose="02040503050406030204" pitchFamily="18" charset="0"/>
                    <a:ea typeface="Times New Roman" panose="02020603050405020304" pitchFamily="18" charset="0"/>
                    <a:cs typeface="Times New Roman" panose="02020603050405020304" pitchFamily="18" charset="0"/>
                  </a:rPr>
                  <a:t>      Solution: - </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λ</m:t>
                    </m:r>
                    <m:r>
                      <a:rPr lang="en-IN" sz="18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a:effectLst/>
                            <a:latin typeface="Cambria Math" panose="02040503050406030204" pitchFamily="18" charset="0"/>
                            <a:ea typeface="Times New Roman" panose="02020603050405020304" pitchFamily="18" charset="0"/>
                            <a:cs typeface="Times New Roman" panose="02020603050405020304" pitchFamily="18" charset="0"/>
                          </a:rPr>
                          <m:t>2</m:t>
                        </m:r>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dsin</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𝜃</m:t>
                        </m:r>
                      </m:num>
                      <m:den>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n</m:t>
                        </m:r>
                      </m:den>
                    </m:f>
                  </m:oMath>
                </a14:m>
                <a:r>
                  <a:rPr lang="en-IN" sz="1800" dirty="0">
                    <a:effectLst/>
                    <a:latin typeface="Cambria" panose="02040503050406030204" pitchFamily="18" charset="0"/>
                    <a:ea typeface="Times New Roman" panose="02020603050405020304" pitchFamily="18" charset="0"/>
                    <a:cs typeface="Times New Roman" panose="02020603050405020304" pitchFamily="18" charset="0"/>
                  </a:rPr>
                  <a:t>=2X0.282</a:t>
                </a:r>
                <a14:m>
                  <m:oMath xmlns:m="http://schemas.openxmlformats.org/officeDocument/2006/math">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−9</m:t>
                        </m:r>
                      </m:sup>
                    </m:sSup>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𝑠𝑖𝑛</m:t>
                    </m:r>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8</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sup>
                    </m:sSup>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35</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up>
                    </m:sSup>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λ</m:t>
                    </m:r>
                    <m:r>
                      <a:rPr lang="en-IN" sz="1800">
                        <a:effectLst/>
                        <a:latin typeface="Cambria Math" panose="02040503050406030204" pitchFamily="18" charset="0"/>
                        <a:ea typeface="Times New Roman" panose="02020603050405020304" pitchFamily="18" charset="0"/>
                        <a:cs typeface="Times New Roman" panose="02020603050405020304" pitchFamily="18" charset="0"/>
                      </a:rPr>
                      <m:t>=0.842</m:t>
                    </m:r>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A</m:t>
                        </m:r>
                      </m:e>
                      <m:sup>
                        <m:r>
                          <a:rPr lang="en-IN" sz="1800">
                            <a:effectLst/>
                            <a:latin typeface="Cambria Math" panose="02040503050406030204" pitchFamily="18" charset="0"/>
                            <a:ea typeface="Times New Roman" panose="02020603050405020304" pitchFamily="18" charset="0"/>
                            <a:cs typeface="Times New Roman" panose="02020603050405020304" pitchFamily="18" charset="0"/>
                          </a:rPr>
                          <m:t>0</m:t>
                        </m:r>
                      </m:sup>
                    </m:sSup>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457200">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In Bragg’s law, d and </a:t>
                </a:r>
                <a14:m>
                  <m:oMath xmlns:m="http://schemas.openxmlformats.org/officeDocument/2006/math">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λ</m:t>
                    </m:r>
                    <m:r>
                      <a:rPr lang="en-IN" sz="180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IN" sz="1800" dirty="0">
                    <a:effectLst/>
                    <a:latin typeface="Cambria" panose="02040503050406030204" pitchFamily="18" charset="0"/>
                    <a:ea typeface="Times New Roman" panose="02020603050405020304" pitchFamily="18" charset="0"/>
                    <a:cs typeface="Times New Roman" panose="02020603050405020304" pitchFamily="18" charset="0"/>
                  </a:rPr>
                  <a:t>are </a:t>
                </a:r>
                <a:r>
                  <a:rPr lang="en-IN" sz="1800" dirty="0" err="1">
                    <a:effectLst/>
                    <a:latin typeface="Cambria" panose="02040503050406030204" pitchFamily="18" charset="0"/>
                    <a:ea typeface="Times New Roman" panose="02020603050405020304" pitchFamily="18" charset="0"/>
                    <a:cs typeface="Times New Roman" panose="02020603050405020304" pitchFamily="18" charset="0"/>
                  </a:rPr>
                  <a:t>constants.Hence,for</a:t>
                </a:r>
                <a:r>
                  <a:rPr lang="en-IN" sz="1800" dirty="0">
                    <a:effectLst/>
                    <a:latin typeface="Cambria" panose="02040503050406030204" pitchFamily="18" charset="0"/>
                    <a:ea typeface="Times New Roman" panose="02020603050405020304" pitchFamily="18" charset="0"/>
                    <a:cs typeface="Times New Roman" panose="02020603050405020304" pitchFamily="18" charset="0"/>
                  </a:rPr>
                  <a:t> maximum order </a:t>
                </a:r>
                <a14:m>
                  <m:oMath xmlns:m="http://schemas.openxmlformats.org/officeDocument/2006/math">
                    <m:sSub>
                      <m:sSub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𝑛</m:t>
                        </m:r>
                      </m:e>
                      <m:sub>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oMath>
                </a14:m>
                <a:r>
                  <a:rPr lang="en-IN" sz="1800" dirty="0">
                    <a:effectLst/>
                    <a:latin typeface="Cambria" panose="02040503050406030204" pitchFamily="18" charset="0"/>
                    <a:ea typeface="Times New Roman" panose="02020603050405020304" pitchFamily="18" charset="0"/>
                    <a:cs typeface="Times New Roman" panose="02020603050405020304" pitchFamily="18" charset="0"/>
                  </a:rPr>
                  <a:t>,sin</a:t>
                </a:r>
                <a14:m>
                  <m:oMath xmlns:m="http://schemas.openxmlformats.org/officeDocument/2006/math">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𝜃</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2d=</a:t>
                </a:r>
                <a14:m>
                  <m:oMath xmlns:m="http://schemas.openxmlformats.org/officeDocument/2006/math">
                    <m:sSub>
                      <m:sSub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𝑛</m:t>
                        </m:r>
                      </m:e>
                      <m:sub>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λ</m:t>
                    </m:r>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IN" sz="1800" dirty="0">
                    <a:effectLst/>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𝑛</m:t>
                        </m:r>
                      </m:e>
                      <m:sub>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2</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𝑑</m:t>
                        </m:r>
                      </m:num>
                      <m:den>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λ</m:t>
                        </m:r>
                      </m:den>
                    </m:f>
                  </m:oMath>
                </a14:m>
                <a:r>
                  <a:rPr lang="en-IN" sz="1800" dirty="0">
                    <a:effectLst/>
                    <a:latin typeface="Cambria" panose="02040503050406030204" pitchFamily="18" charset="0"/>
                    <a:ea typeface="Times New Roman" panose="02020603050405020304" pitchFamily="18" charset="0"/>
                    <a:cs typeface="Times New Roman" panose="02020603050405020304" pitchFamily="18" charset="0"/>
                  </a:rPr>
                  <a:t>=</a:t>
                </a:r>
                <a14:m>
                  <m:oMath xmlns:m="http://schemas.openxmlformats.org/officeDocument/2006/math">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2</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0.282</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−9</m:t>
                            </m:r>
                          </m:sup>
                        </m:sSup>
                      </m:num>
                      <m:den>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0.0842</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−10</m:t>
                            </m:r>
                          </m:sup>
                        </m:sSup>
                      </m:den>
                    </m:f>
                  </m:oMath>
                </a14:m>
                <a:r>
                  <a:rPr lang="en-IN" sz="1800" dirty="0">
                    <a:effectLst/>
                    <a:latin typeface="Cambria" panose="02040503050406030204" pitchFamily="18" charset="0"/>
                    <a:ea typeface="Times New Roman" panose="02020603050405020304" pitchFamily="18" charset="0"/>
                    <a:cs typeface="Times New Roman" panose="02020603050405020304" pitchFamily="18" charset="0"/>
                  </a:rPr>
                  <a:t>=6.7</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marL="914400">
                  <a:lnSpc>
                    <a:spcPct val="115000"/>
                  </a:lnSpc>
                  <a:spcAft>
                    <a:spcPts val="1000"/>
                  </a:spcAft>
                </a:pPr>
                <a:r>
                  <a:rPr lang="en-IN" sz="1800" dirty="0" err="1">
                    <a:effectLst/>
                    <a:latin typeface="Cambria" panose="02040503050406030204" pitchFamily="18" charset="0"/>
                    <a:ea typeface="Times New Roman" panose="02020603050405020304" pitchFamily="18" charset="0"/>
                    <a:cs typeface="Times New Roman" panose="02020603050405020304" pitchFamily="18" charset="0"/>
                  </a:rPr>
                  <a:t>Here,since</a:t>
                </a:r>
                <a:r>
                  <a:rPr lang="en-IN" sz="1800" dirty="0">
                    <a:effectLst/>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𝑛</m:t>
                        </m:r>
                      </m:e>
                      <m:sub>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oMath>
                </a14:m>
                <a:r>
                  <a:rPr lang="en-IN" sz="1800" dirty="0">
                    <a:effectLst/>
                    <a:latin typeface="Cambria" panose="02040503050406030204" pitchFamily="18" charset="0"/>
                    <a:ea typeface="Times New Roman" panose="02020603050405020304" pitchFamily="18" charset="0"/>
                    <a:cs typeface="Times New Roman" panose="02020603050405020304" pitchFamily="18" charset="0"/>
                  </a:rPr>
                  <a:t>&lt;7,7</a:t>
                </a:r>
                <a:r>
                  <a:rPr lang="en-IN" sz="1800" baseline="30000" dirty="0">
                    <a:effectLst/>
                    <a:latin typeface="Cambria" panose="02040503050406030204" pitchFamily="18" charset="0"/>
                    <a:ea typeface="Times New Roman" panose="02020603050405020304" pitchFamily="18" charset="0"/>
                    <a:cs typeface="Times New Roman" panose="02020603050405020304" pitchFamily="18" charset="0"/>
                  </a:rPr>
                  <a:t>th</a:t>
                </a:r>
                <a:r>
                  <a:rPr lang="en-IN" sz="1800" dirty="0">
                    <a:effectLst/>
                    <a:latin typeface="Cambria" panose="02040503050406030204" pitchFamily="18" charset="0"/>
                    <a:ea typeface="Times New Roman" panose="02020603050405020304" pitchFamily="18" charset="0"/>
                    <a:cs typeface="Times New Roman" panose="02020603050405020304" pitchFamily="18" charset="0"/>
                  </a:rPr>
                  <a:t> order is not </a:t>
                </a:r>
                <a:r>
                  <a:rPr lang="en-IN" sz="1800" dirty="0" err="1">
                    <a:effectLst/>
                    <a:latin typeface="Cambria" panose="02040503050406030204" pitchFamily="18" charset="0"/>
                    <a:ea typeface="Times New Roman" panose="02020603050405020304" pitchFamily="18" charset="0"/>
                    <a:cs typeface="Times New Roman" panose="02020603050405020304" pitchFamily="18" charset="0"/>
                  </a:rPr>
                  <a:t>visible.Hence</a:t>
                </a:r>
                <a:r>
                  <a:rPr lang="en-IN" sz="1800" dirty="0">
                    <a:effectLst/>
                    <a:latin typeface="Cambria" panose="02040503050406030204" pitchFamily="18" charset="0"/>
                    <a:ea typeface="Times New Roman" panose="02020603050405020304" pitchFamily="18" charset="0"/>
                    <a:cs typeface="Times New Roman" panose="02020603050405020304" pitchFamily="18" charset="0"/>
                  </a:rPr>
                  <a:t> the highest order is 6 </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r>
                  <a:rPr lang="en-IN" sz="1800" b="1" u="sng" dirty="0">
                    <a:effectLst/>
                    <a:latin typeface="Cambria" panose="02040503050406030204" pitchFamily="18" charset="0"/>
                    <a:ea typeface="Times New Roman" panose="02020603050405020304" pitchFamily="18" charset="0"/>
                    <a:cs typeface="Times New Roman" panose="02020603050405020304" pitchFamily="18" charset="0"/>
                  </a:rPr>
                  <a:t>  Ans: -</a:t>
                </a:r>
                <a14:m>
                  <m:oMath xmlns:m="http://schemas.openxmlformats.org/officeDocument/2006/math">
                    <m:r>
                      <a:rPr lang="en-IN" sz="1800" u="sng">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IN" sz="1800" u="sng">
                        <a:effectLst/>
                        <a:latin typeface="Cambria Math" panose="02040503050406030204" pitchFamily="18" charset="0"/>
                        <a:ea typeface="Times New Roman" panose="02020603050405020304" pitchFamily="18" charset="0"/>
                        <a:cs typeface="Times New Roman" panose="02020603050405020304" pitchFamily="18" charset="0"/>
                      </a:rPr>
                      <m:t>λ</m:t>
                    </m:r>
                    <m:r>
                      <a:rPr lang="en-IN" sz="1800" u="sng">
                        <a:effectLst/>
                        <a:latin typeface="Cambria Math" panose="02040503050406030204" pitchFamily="18" charset="0"/>
                        <a:ea typeface="Times New Roman" panose="02020603050405020304" pitchFamily="18" charset="0"/>
                        <a:cs typeface="Times New Roman" panose="02020603050405020304" pitchFamily="18" charset="0"/>
                      </a:rPr>
                      <m:t>=0.842</m:t>
                    </m:r>
                    <m:sSup>
                      <m:sSupPr>
                        <m:ctrlPr>
                          <a:rPr lang="en-IN" sz="1800" i="1" u="sng">
                            <a:effectLst/>
                            <a:latin typeface="Cambria Math" panose="02040503050406030204" pitchFamily="18" charset="0"/>
                            <a:ea typeface="Times New Roman" panose="02020603050405020304" pitchFamily="18" charset="0"/>
                            <a:cs typeface="Times New Roman" panose="02020603050405020304" pitchFamily="18" charset="0"/>
                          </a:rPr>
                        </m:ctrlPr>
                      </m:sSupPr>
                      <m:e>
                        <m:r>
                          <m:rPr>
                            <m:sty m:val="p"/>
                          </m:rPr>
                          <a:rPr lang="en-IN" sz="1800" u="sng">
                            <a:effectLst/>
                            <a:latin typeface="Cambria Math" panose="02040503050406030204" pitchFamily="18" charset="0"/>
                            <a:ea typeface="Times New Roman" panose="02020603050405020304" pitchFamily="18" charset="0"/>
                            <a:cs typeface="Times New Roman" panose="02020603050405020304" pitchFamily="18" charset="0"/>
                          </a:rPr>
                          <m:t>A</m:t>
                        </m:r>
                      </m:e>
                      <m:sup>
                        <m:r>
                          <a:rPr lang="en-IN" sz="1800" u="sng">
                            <a:effectLst/>
                            <a:latin typeface="Cambria Math" panose="02040503050406030204" pitchFamily="18" charset="0"/>
                            <a:ea typeface="Times New Roman" panose="02020603050405020304" pitchFamily="18" charset="0"/>
                            <a:cs typeface="Times New Roman" panose="02020603050405020304" pitchFamily="18" charset="0"/>
                          </a:rPr>
                          <m:t>0</m:t>
                        </m:r>
                      </m:sup>
                    </m:sSup>
                  </m:oMath>
                </a14:m>
                <a:r>
                  <a:rPr lang="en-IN" sz="1800" u="sng" dirty="0">
                    <a:effectLst/>
                    <a:latin typeface="Cambria" panose="02040503050406030204" pitchFamily="18" charset="0"/>
                    <a:ea typeface="Times New Roman" panose="02020603050405020304" pitchFamily="18" charset="0"/>
                    <a:cs typeface="Times New Roman" panose="02020603050405020304" pitchFamily="18" charset="0"/>
                  </a:rPr>
                  <a:t>  ,  n=6</a:t>
                </a:r>
                <a:endParaRPr lang="en-IN" dirty="0"/>
              </a:p>
            </p:txBody>
          </p:sp>
        </mc:Choice>
        <mc:Fallback>
          <p:sp>
            <p:nvSpPr>
              <p:cNvPr id="3" name="Content Placeholder 2">
                <a:extLst>
                  <a:ext uri="{FF2B5EF4-FFF2-40B4-BE49-F238E27FC236}">
                    <a16:creationId xmlns:a16="http://schemas.microsoft.com/office/drawing/2014/main" id="{7F90050F-BA62-45F3-8FE3-17C941FE39CC}"/>
                  </a:ext>
                </a:extLst>
              </p:cNvPr>
              <p:cNvSpPr>
                <a:spLocks noGrp="1" noRot="1" noChangeAspect="1" noMove="1" noResize="1" noEditPoints="1" noAdjustHandles="1" noChangeArrowheads="1" noChangeShapeType="1" noTextEdit="1"/>
              </p:cNvSpPr>
              <p:nvPr>
                <p:ph idx="1"/>
              </p:nvPr>
            </p:nvSpPr>
            <p:spPr>
              <a:xfrm>
                <a:off x="838200" y="1399592"/>
                <a:ext cx="10515600" cy="4777371"/>
              </a:xfrm>
              <a:blipFill>
                <a:blip r:embed="rId3"/>
                <a:stretch>
                  <a:fillRect l="-174" t="-639" b="-255"/>
                </a:stretch>
              </a:blipFill>
            </p:spPr>
            <p:txBody>
              <a:bodyPr/>
              <a:lstStyle/>
              <a:p>
                <a:r>
                  <a:rPr lang="en-IN">
                    <a:noFill/>
                  </a:rPr>
                  <a:t> </a:t>
                </a:r>
              </a:p>
            </p:txBody>
          </p:sp>
        </mc:Fallback>
      </mc:AlternateContent>
    </p:spTree>
    <p:extLst>
      <p:ext uri="{BB962C8B-B14F-4D97-AF65-F5344CB8AC3E}">
        <p14:creationId xmlns:p14="http://schemas.microsoft.com/office/powerpoint/2010/main" val="261755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2FE7355D-F860-47C3-9C36-EA2182906FF1}"/>
                  </a:ext>
                </a:extLst>
              </p:cNvPr>
              <p:cNvSpPr>
                <a:spLocks noGrp="1"/>
              </p:cNvSpPr>
              <p:nvPr>
                <p:ph type="title"/>
              </p:nvPr>
            </p:nvSpPr>
            <p:spPr/>
            <p:txBody>
              <a:bodyPr/>
              <a:lstStyle/>
              <a:p>
                <a:r>
                  <a:rPr lang="en-US" sz="1800" b="1"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Q10.</a:t>
                </a:r>
                <a:r>
                  <a:rPr lang="en-US" sz="1800"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The first order X ray diffraction occurs at a glancing angle of  </a:t>
                </a:r>
                <a14:m>
                  <m:oMath xmlns:m="http://schemas.openxmlformats.org/officeDocument/2006/math">
                    <m:sSup>
                      <m:sSupPr>
                        <m:ctrlPr>
                          <a:rPr lang="en-IN"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9.6</m:t>
                        </m:r>
                      </m:e>
                      <m:sup>
                        <m:r>
                          <a:rPr lang="en-US"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0</m:t>
                        </m:r>
                      </m:sup>
                    </m:sSup>
                  </m:oMath>
                </a14:m>
                <a:r>
                  <a:rPr lang="en-US" sz="1800"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from the (110) planes of a calcite crystal. If the lattice constant  of the calcite is </a:t>
                </a:r>
                <a14:m>
                  <m:oMath xmlns:m="http://schemas.openxmlformats.org/officeDocument/2006/math">
                    <m:sSup>
                      <m:sSupPr>
                        <m:ctrlPr>
                          <a:rPr lang="en-IN"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3.036</m:t>
                        </m:r>
                        <m:r>
                          <a:rPr lang="en-US"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𝐴</m:t>
                        </m:r>
                      </m:e>
                      <m:sup>
                        <m:r>
                          <a:rPr lang="en-US" sz="1800" i="1">
                            <a:effectLst/>
                            <a:highlight>
                              <a:srgbClr val="00FFFF"/>
                            </a:highlight>
                            <a:latin typeface="Cambria Math" panose="02040503050406030204" pitchFamily="18" charset="0"/>
                            <a:ea typeface="Times New Roman" panose="02020603050405020304" pitchFamily="18" charset="0"/>
                            <a:cs typeface="Times New Roman" panose="02020603050405020304" pitchFamily="18" charset="0"/>
                          </a:rPr>
                          <m:t>0</m:t>
                        </m:r>
                      </m:sup>
                    </m:sSup>
                  </m:oMath>
                </a14:m>
                <a:r>
                  <a:rPr lang="en-US" sz="1800" dirty="0">
                    <a:effectLst/>
                    <a:highlight>
                      <a:srgbClr val="00FFFF"/>
                    </a:highlight>
                    <a:latin typeface="Cambria" panose="02040503050406030204" pitchFamily="18" charset="0"/>
                    <a:ea typeface="Times New Roman" panose="02020603050405020304" pitchFamily="18" charset="0"/>
                    <a:cs typeface="Times New Roman" panose="02020603050405020304" pitchFamily="18" charset="0"/>
                  </a:rPr>
                  <a:t>,calculate the wavelength of x ray.</a:t>
                </a:r>
                <a:br>
                  <a:rPr lang="en-IN" sz="18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mc:Choice>
        <mc:Fallback>
          <p:sp>
            <p:nvSpPr>
              <p:cNvPr id="2" name="Title 1">
                <a:extLst>
                  <a:ext uri="{FF2B5EF4-FFF2-40B4-BE49-F238E27FC236}">
                    <a16:creationId xmlns:a16="http://schemas.microsoft.com/office/drawing/2014/main" id="{2FE7355D-F860-47C3-9C36-EA2182906FF1}"/>
                  </a:ext>
                </a:extLst>
              </p:cNvPr>
              <p:cNvSpPr>
                <a:spLocks noGrp="1" noRot="1" noChangeAspect="1" noMove="1" noResize="1" noEditPoints="1" noAdjustHandles="1" noChangeArrowheads="1" noChangeShapeType="1" noTextEdit="1"/>
              </p:cNvSpPr>
              <p:nvPr>
                <p:ph type="title"/>
              </p:nvPr>
            </p:nvSpPr>
            <p:spPr>
              <a:blipFill>
                <a:blip r:embed="rId2"/>
                <a:stretch>
                  <a:fillRect l="-522"/>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A87ADDE-3B35-45E1-A928-48531A9B0AA6}"/>
                  </a:ext>
                </a:extLst>
              </p:cNvPr>
              <p:cNvSpPr>
                <a:spLocks noGrp="1"/>
              </p:cNvSpPr>
              <p:nvPr>
                <p:ph idx="1"/>
              </p:nvPr>
            </p:nvSpPr>
            <p:spPr/>
            <p:txBody>
              <a:bodyPr>
                <a:normAutofit lnSpcReduction="10000"/>
              </a:bodyPr>
              <a:lstStyle/>
              <a:p>
                <a:pPr>
                  <a:lnSpc>
                    <a:spcPct val="115000"/>
                  </a:lnSpc>
                  <a:spcAft>
                    <a:spcPts val="1000"/>
                  </a:spcAft>
                </a:pPr>
                <a:r>
                  <a:rPr lang="en-US" sz="1800" b="1" dirty="0">
                    <a:effectLst/>
                    <a:latin typeface="Cambria" panose="02040503050406030204" pitchFamily="18" charset="0"/>
                    <a:ea typeface="Times New Roman" panose="02020603050405020304" pitchFamily="18" charset="0"/>
                    <a:cs typeface="Times New Roman" panose="02020603050405020304" pitchFamily="18" charset="0"/>
                  </a:rPr>
                  <a:t>Given : -</a:t>
                </a: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𝜃</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9.6</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sup>
                    </m:sSup>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n=1,  (hkl)=(110),  a=</a:t>
                </a:r>
                <a14:m>
                  <m:oMath xmlns:m="http://schemas.openxmlformats.org/officeDocument/2006/math">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3.036</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𝐴</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sup>
                    </m:sSup>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b="1" dirty="0">
                    <a:effectLst/>
                    <a:latin typeface="Cambria" panose="02040503050406030204" pitchFamily="18" charset="0"/>
                    <a:ea typeface="Times New Roman" panose="02020603050405020304" pitchFamily="18" charset="0"/>
                    <a:cs typeface="Times New Roman" panose="02020603050405020304" pitchFamily="18" charset="0"/>
                  </a:rPr>
                  <a:t>      Formula: - </a:t>
                </a:r>
                <a:r>
                  <a:rPr lang="en-US" sz="1800" dirty="0">
                    <a:effectLst/>
                    <a:latin typeface="Cambria" panose="02040503050406030204" pitchFamily="18" charset="0"/>
                    <a:ea typeface="Calibri" panose="020F0502020204030204" pitchFamily="34" charset="0"/>
                    <a:cs typeface="Times New Roman" panose="02020603050405020304" pitchFamily="18" charset="0"/>
                  </a:rPr>
                  <a:t>d=</a:t>
                </a:r>
                <a14:m>
                  <m:oMath xmlns:m="http://schemas.openxmlformats.org/officeDocument/2006/math">
                    <m:f>
                      <m:f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num>
                      <m:den>
                        <m:rad>
                          <m:radPr>
                            <m:degHide m:val="on"/>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radPr>
                          <m:deg/>
                          <m:e>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h</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𝑘</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IN"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𝑙</m:t>
                                </m:r>
                              </m:e>
                              <m:sup>
                                <m:r>
                                  <a:rPr lang="en-US" sz="1800" i="1">
                                    <a:effectLst/>
                                    <a:latin typeface="Cambria Math" panose="02040503050406030204" pitchFamily="18" charset="0"/>
                                    <a:ea typeface="Calibri" panose="020F0502020204030204" pitchFamily="34" charset="0"/>
                                    <a:cs typeface="Times New Roman" panose="02020603050405020304" pitchFamily="18" charset="0"/>
                                  </a:rPr>
                                  <m:t>2</m:t>
                                </m:r>
                              </m:sup>
                            </m:sSup>
                          </m:e>
                        </m:rad>
                      </m:den>
                    </m:f>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2dsin</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𝜃</m:t>
                    </m:r>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=n </a:t>
                </a:r>
                <a14:m>
                  <m:oMath xmlns:m="http://schemas.openxmlformats.org/officeDocument/2006/math">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λ</m:t>
                    </m:r>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IN" sz="1800" dirty="0">
                    <a:effectLst/>
                    <a:latin typeface="Cambria" panose="02040503050406030204" pitchFamily="18" charset="0"/>
                    <a:ea typeface="Times New Roman" panose="02020603050405020304" pitchFamily="18" charset="0"/>
                    <a:cs typeface="Times New Roman" panose="02020603050405020304" pitchFamily="18" charset="0"/>
                  </a:rPr>
                  <a:t>      </a:t>
                </a:r>
                <a:r>
                  <a:rPr lang="en-US" sz="1800" b="1" u="sng" dirty="0">
                    <a:effectLst/>
                    <a:latin typeface="Cambria" panose="02040503050406030204" pitchFamily="18" charset="0"/>
                    <a:ea typeface="Times New Roman" panose="02020603050405020304" pitchFamily="18" charset="0"/>
                    <a:cs typeface="Times New Roman" panose="02020603050405020304" pitchFamily="18" charset="0"/>
                  </a:rPr>
                  <a:t>Solution: - </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d=</a:t>
                </a:r>
                <a14:m>
                  <m:oMath xmlns:m="http://schemas.openxmlformats.org/officeDocument/2006/math">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3.036</m:t>
                        </m:r>
                      </m:num>
                      <m:den>
                        <m:rad>
                          <m:radPr>
                            <m:degHide m:val="on"/>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radPr>
                          <m:deg/>
                          <m:e>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e>
                        </m:rad>
                      </m:den>
                    </m:f>
                  </m:oMath>
                </a14:m>
                <a:r>
                  <a:rPr lang="en-US" sz="1800" dirty="0">
                    <a:effectLst/>
                    <a:latin typeface="Cambria" panose="02040503050406030204" pitchFamily="18" charset="0"/>
                    <a:ea typeface="Times New Roman" panose="02020603050405020304" pitchFamily="18" charset="0"/>
                    <a:cs typeface="Times New Roman" panose="02020603050405020304" pitchFamily="18" charset="0"/>
                  </a:rPr>
                  <a:t>=2.1468</a:t>
                </a:r>
                <a14:m>
                  <m:oMath xmlns:m="http://schemas.openxmlformats.org/officeDocument/2006/math">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𝐴</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sup>
                    </m:sSup>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dirty="0">
                    <a:effectLst/>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λ</m:t>
                    </m:r>
                    <m:r>
                      <a:rPr lang="en-IN" sz="18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a:effectLst/>
                            <a:latin typeface="Cambria Math" panose="02040503050406030204" pitchFamily="18" charset="0"/>
                            <a:ea typeface="Times New Roman" panose="02020603050405020304" pitchFamily="18" charset="0"/>
                            <a:cs typeface="Times New Roman" panose="02020603050405020304" pitchFamily="18" charset="0"/>
                          </a:rPr>
                          <m:t>2</m:t>
                        </m:r>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dsin</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𝜃</m:t>
                        </m:r>
                      </m:num>
                      <m:den>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n</m:t>
                        </m:r>
                      </m:den>
                    </m:f>
                  </m:oMath>
                </a14:m>
                <a:r>
                  <a:rPr lang="en-IN" sz="1800" dirty="0">
                    <a:effectLst/>
                    <a:latin typeface="Cambria" panose="02040503050406030204" pitchFamily="18" charset="0"/>
                    <a:ea typeface="Times New Roman" panose="02020603050405020304" pitchFamily="18" charset="0"/>
                    <a:cs typeface="Times New Roman" panose="02020603050405020304" pitchFamily="18" charset="0"/>
                  </a:rPr>
                  <a:t>=</a:t>
                </a:r>
                <a14:m>
                  <m:oMath xmlns:m="http://schemas.openxmlformats.org/officeDocument/2006/math">
                    <m:f>
                      <m:f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2</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𝑋</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2.1468</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𝑋𝑠𝑖𝑛</m:t>
                        </m:r>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9.6</m:t>
                        </m:r>
                      </m:num>
                      <m:den>
                        <m:r>
                          <a:rPr lang="en-IN" sz="1800" i="1">
                            <a:effectLst/>
                            <a:latin typeface="Cambria Math" panose="02040503050406030204" pitchFamily="18" charset="0"/>
                            <a:ea typeface="Times New Roman" panose="02020603050405020304" pitchFamily="18" charset="0"/>
                            <a:cs typeface="Times New Roman" panose="02020603050405020304" pitchFamily="18" charset="0"/>
                          </a:rPr>
                          <m:t>1</m:t>
                        </m:r>
                      </m:den>
                    </m:f>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IN" sz="1800" dirty="0">
                    <a:effectLst/>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m:rPr>
                        <m:sty m:val="p"/>
                      </m:rPr>
                      <a:rPr lang="en-IN" sz="1800">
                        <a:effectLst/>
                        <a:latin typeface="Cambria Math" panose="02040503050406030204" pitchFamily="18" charset="0"/>
                        <a:ea typeface="Times New Roman" panose="02020603050405020304" pitchFamily="18" charset="0"/>
                        <a:cs typeface="Times New Roman" panose="02020603050405020304" pitchFamily="18" charset="0"/>
                      </a:rPr>
                      <m:t>λ</m:t>
                    </m:r>
                    <m:r>
                      <a:rPr lang="en-IN" sz="1800">
                        <a:effectLst/>
                        <a:latin typeface="Cambria Math" panose="02040503050406030204" pitchFamily="18" charset="0"/>
                        <a:ea typeface="Times New Roman" panose="02020603050405020304" pitchFamily="18" charset="0"/>
                        <a:cs typeface="Times New Roman" panose="02020603050405020304" pitchFamily="18" charset="0"/>
                      </a:rPr>
                      <m:t>=0.716</m:t>
                    </m:r>
                    <m:sSup>
                      <m:sSupPr>
                        <m:ctrlPr>
                          <a:rPr lang="en-IN"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𝐴</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m:t>
                        </m:r>
                      </m:sup>
                    </m:sSup>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15000"/>
                  </a:lnSpc>
                  <a:spcAft>
                    <a:spcPts val="1000"/>
                  </a:spcAft>
                </a:pPr>
                <a:r>
                  <a:rPr lang="en-US" sz="1800" b="1" u="sng" dirty="0">
                    <a:effectLst/>
                    <a:latin typeface="Cambria" panose="02040503050406030204" pitchFamily="18" charset="0"/>
                    <a:ea typeface="Times New Roman" panose="02020603050405020304" pitchFamily="18" charset="0"/>
                    <a:cs typeface="Times New Roman" panose="02020603050405020304" pitchFamily="18" charset="0"/>
                  </a:rPr>
                  <a:t>     Ans: -</a:t>
                </a:r>
                <a:r>
                  <a:rPr lang="en-US" sz="1800" u="sng" dirty="0">
                    <a:effectLst/>
                    <a:latin typeface="Cambria" panose="02040503050406030204" pitchFamily="18" charset="0"/>
                    <a:ea typeface="Times New Roman" panose="02020603050405020304" pitchFamily="18" charset="0"/>
                    <a:cs typeface="Times New Roman" panose="02020603050405020304" pitchFamily="18" charset="0"/>
                  </a:rPr>
                  <a:t>The wavelength of X ray is </a:t>
                </a:r>
                <a14:m>
                  <m:oMath xmlns:m="http://schemas.openxmlformats.org/officeDocument/2006/math">
                    <m:r>
                      <a:rPr lang="en-IN" sz="1800" u="sng">
                        <a:effectLst/>
                        <a:latin typeface="Cambria Math" panose="02040503050406030204" pitchFamily="18" charset="0"/>
                        <a:ea typeface="Times New Roman" panose="02020603050405020304" pitchFamily="18" charset="0"/>
                        <a:cs typeface="Times New Roman" panose="02020603050405020304" pitchFamily="18" charset="0"/>
                      </a:rPr>
                      <m:t>0.716</m:t>
                    </m:r>
                    <m:sSup>
                      <m:sSupPr>
                        <m:ctrlPr>
                          <a:rPr lang="en-IN" sz="1800" i="1" u="sng">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u="sng">
                            <a:effectLst/>
                            <a:latin typeface="Cambria Math" panose="02040503050406030204" pitchFamily="18" charset="0"/>
                            <a:ea typeface="Times New Roman" panose="02020603050405020304" pitchFamily="18" charset="0"/>
                            <a:cs typeface="Times New Roman" panose="02020603050405020304" pitchFamily="18" charset="0"/>
                          </a:rPr>
                          <m:t>𝐴</m:t>
                        </m:r>
                      </m:e>
                      <m:sup>
                        <m:r>
                          <a:rPr lang="en-US" sz="1800" i="1" u="sng">
                            <a:effectLst/>
                            <a:latin typeface="Cambria Math" panose="02040503050406030204" pitchFamily="18" charset="0"/>
                            <a:ea typeface="Times New Roman" panose="02020603050405020304" pitchFamily="18" charset="0"/>
                            <a:cs typeface="Times New Roman" panose="02020603050405020304" pitchFamily="18" charset="0"/>
                          </a:rPr>
                          <m:t>0</m:t>
                        </m:r>
                      </m:sup>
                    </m:sSup>
                  </m:oMath>
                </a14:m>
                <a:endParaRPr lang="en-IN" sz="18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mc:Choice>
        <mc:Fallback>
          <p:sp>
            <p:nvSpPr>
              <p:cNvPr id="3" name="Content Placeholder 2">
                <a:extLst>
                  <a:ext uri="{FF2B5EF4-FFF2-40B4-BE49-F238E27FC236}">
                    <a16:creationId xmlns:a16="http://schemas.microsoft.com/office/drawing/2014/main" id="{2A87ADDE-3B35-45E1-A928-48531A9B0AA6}"/>
                  </a:ext>
                </a:extLst>
              </p:cNvPr>
              <p:cNvSpPr>
                <a:spLocks noGrp="1" noRot="1" noChangeAspect="1" noMove="1" noResize="1" noEditPoints="1" noAdjustHandles="1" noChangeArrowheads="1" noChangeShapeType="1" noTextEdit="1"/>
              </p:cNvSpPr>
              <p:nvPr>
                <p:ph idx="1"/>
              </p:nvPr>
            </p:nvSpPr>
            <p:spPr>
              <a:blipFill>
                <a:blip r:embed="rId3"/>
                <a:stretch>
                  <a:fillRect l="-406" t="-980"/>
                </a:stretch>
              </a:blipFill>
            </p:spPr>
            <p:txBody>
              <a:bodyPr/>
              <a:lstStyle/>
              <a:p>
                <a:r>
                  <a:rPr lang="en-IN">
                    <a:noFill/>
                  </a:rPr>
                  <a:t> </a:t>
                </a:r>
              </a:p>
            </p:txBody>
          </p:sp>
        </mc:Fallback>
      </mc:AlternateContent>
    </p:spTree>
    <p:extLst>
      <p:ext uri="{BB962C8B-B14F-4D97-AF65-F5344CB8AC3E}">
        <p14:creationId xmlns:p14="http://schemas.microsoft.com/office/powerpoint/2010/main" val="3104136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4EF35F8-A032-404F-8EAE-2C98CF82719E}"/>
                  </a:ext>
                </a:extLst>
              </p:cNvPr>
              <p:cNvSpPr>
                <a:spLocks noGrp="1"/>
              </p:cNvSpPr>
              <p:nvPr>
                <p:ph idx="1"/>
              </p:nvPr>
            </p:nvSpPr>
            <p:spPr>
              <a:xfrm>
                <a:off x="0" y="0"/>
                <a:ext cx="12191999" cy="6857999"/>
              </a:xfrm>
            </p:spPr>
            <p:txBody>
              <a:bodyPr>
                <a:normAutofit fontScale="40000" lnSpcReduction="20000"/>
              </a:bodyPr>
              <a:lstStyle/>
              <a:p>
                <a:pPr marL="342900" lvl="0" indent="-342900" algn="just">
                  <a:lnSpc>
                    <a:spcPct val="120000"/>
                  </a:lnSpc>
                  <a:spcAft>
                    <a:spcPts val="1000"/>
                  </a:spcAft>
                  <a:buFont typeface="+mj-lt"/>
                  <a:buAutoNum type="arabicPeriod"/>
                </a:pPr>
                <a:r>
                  <a:rPr lang="en-US" sz="3800" u="none" strike="noStrike" dirty="0">
                    <a:effectLst/>
                    <a:latin typeface="Times New Roman" panose="02020603050405020304" pitchFamily="18" charset="0"/>
                    <a:ea typeface="Calibri" panose="020F0502020204030204" pitchFamily="34" charset="0"/>
                    <a:cs typeface="Times New Roman" panose="02020603050405020304" pitchFamily="18" charset="0"/>
                  </a:rPr>
                  <a:t>Find the interplanar spacing between family of planes (111)in a crystal of lattice constant 3A</a:t>
                </a:r>
                <a:r>
                  <a:rPr lang="en-US" sz="3800" u="none" strike="noStrike" baseline="3000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3800" u="none" strike="noStrike"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3800" b="1" u="none" strike="noStrike" dirty="0">
                  <a:solidFill>
                    <a:srgbClr val="000000"/>
                  </a:solidFill>
                  <a:highlight>
                    <a:srgbClr val="FFFF00"/>
                  </a:highligh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20000"/>
                  </a:lnSpc>
                  <a:spcAft>
                    <a:spcPts val="1000"/>
                  </a:spcAft>
                  <a:buFont typeface="+mj-lt"/>
                  <a:buAutoNum type="arabicPeriod"/>
                </a:pPr>
                <a:r>
                  <a:rPr lang="en-US" sz="3800" u="none" strike="noStrike" dirty="0">
                    <a:effectLst/>
                    <a:latin typeface="Times New Roman" panose="02020603050405020304" pitchFamily="18" charset="0"/>
                    <a:ea typeface="Calibri" panose="020F0502020204030204" pitchFamily="34" charset="0"/>
                    <a:cs typeface="Times New Roman" panose="02020603050405020304" pitchFamily="18" charset="0"/>
                  </a:rPr>
                  <a:t>In a crystal whose primitive vectors are 1.2A</a:t>
                </a:r>
                <a:r>
                  <a:rPr lang="en-US" sz="3800" u="none" strike="noStrike" baseline="3000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3800" u="none" strike="noStrike" dirty="0">
                    <a:effectLst/>
                    <a:latin typeface="Times New Roman" panose="02020603050405020304" pitchFamily="18" charset="0"/>
                    <a:ea typeface="Calibri" panose="020F0502020204030204" pitchFamily="34" charset="0"/>
                    <a:cs typeface="Times New Roman" panose="02020603050405020304" pitchFamily="18" charset="0"/>
                  </a:rPr>
                  <a:t>,1.8 A</a:t>
                </a:r>
                <a:r>
                  <a:rPr lang="en-US" sz="3800" u="none" strike="noStrike" baseline="30000" dirty="0">
                    <a:effectLst/>
                    <a:latin typeface="Times New Roman" panose="02020603050405020304" pitchFamily="18" charset="0"/>
                    <a:ea typeface="Calibri" panose="020F0502020204030204" pitchFamily="34" charset="0"/>
                    <a:cs typeface="Times New Roman" panose="02020603050405020304" pitchFamily="18" charset="0"/>
                  </a:rPr>
                  <a:t>0 </a:t>
                </a:r>
                <a:r>
                  <a:rPr lang="en-US" sz="3800" u="none" strike="noStrike" dirty="0">
                    <a:effectLst/>
                    <a:latin typeface="Times New Roman" panose="02020603050405020304" pitchFamily="18" charset="0"/>
                    <a:ea typeface="Calibri" panose="020F0502020204030204" pitchFamily="34" charset="0"/>
                    <a:cs typeface="Times New Roman" panose="02020603050405020304" pitchFamily="18" charset="0"/>
                  </a:rPr>
                  <a:t>And 2 A</a:t>
                </a:r>
                <a:r>
                  <a:rPr lang="en-US" sz="3800" u="none" strike="noStrike" baseline="3000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3800" u="none" strike="noStrike" dirty="0">
                    <a:effectLst/>
                    <a:latin typeface="Times New Roman" panose="02020603050405020304" pitchFamily="18" charset="0"/>
                    <a:ea typeface="Calibri" panose="020F0502020204030204" pitchFamily="34" charset="0"/>
                    <a:cs typeface="Times New Roman" panose="02020603050405020304" pitchFamily="18" charset="0"/>
                  </a:rPr>
                  <a:t> for (231) plane that cuts an intercept of 1.2 A</a:t>
                </a:r>
                <a:r>
                  <a:rPr lang="en-US" sz="3800" u="none" strike="noStrike" baseline="3000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3800" u="none" strike="noStrike" dirty="0">
                    <a:effectLst/>
                    <a:latin typeface="Times New Roman" panose="02020603050405020304" pitchFamily="18" charset="0"/>
                    <a:ea typeface="Calibri" panose="020F0502020204030204" pitchFamily="34" charset="0"/>
                    <a:cs typeface="Times New Roman" panose="02020603050405020304" pitchFamily="18" charset="0"/>
                  </a:rPr>
                  <a:t> along the x-axis, find the length of the intercepts along the y and z-axis.</a:t>
                </a:r>
              </a:p>
              <a:p>
                <a:pPr marL="342900" lvl="0" indent="-342900" algn="just">
                  <a:lnSpc>
                    <a:spcPct val="120000"/>
                  </a:lnSpc>
                  <a:spcAft>
                    <a:spcPts val="1000"/>
                  </a:spcAft>
                  <a:buFont typeface="+mj-lt"/>
                  <a:buAutoNum type="arabicPeriod"/>
                </a:pPr>
                <a:r>
                  <a:rPr lang="en-IN" sz="3800" u="none" strike="noStrike"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800" u="none" strike="noStrike" dirty="0">
                    <a:effectLst/>
                    <a:latin typeface="Times New Roman" panose="02020603050405020304" pitchFamily="18" charset="0"/>
                    <a:ea typeface="Calibri" panose="020F0502020204030204" pitchFamily="34" charset="0"/>
                    <a:cs typeface="Times New Roman" panose="02020603050405020304" pitchFamily="18" charset="0"/>
                  </a:rPr>
                  <a:t>Find the miller indices of a set of parallel planes which makes the intercepts in the ratio 3a:4b on the x and y axis respectively and are parallel to the z axis. The basis vectors of the unit cell are </a:t>
                </a:r>
                <a:r>
                  <a:rPr lang="en-US" sz="3800" u="none" strike="noStrike" dirty="0" err="1">
                    <a:effectLst/>
                    <a:latin typeface="Times New Roman" panose="02020603050405020304" pitchFamily="18" charset="0"/>
                    <a:ea typeface="Calibri" panose="020F0502020204030204" pitchFamily="34" charset="0"/>
                    <a:cs typeface="Times New Roman" panose="02020603050405020304" pitchFamily="18" charset="0"/>
                  </a:rPr>
                  <a:t>a,b,c</a:t>
                </a:r>
                <a:r>
                  <a:rPr lang="en-US" sz="3800" u="none" strike="noStrike" dirty="0">
                    <a:effectLst/>
                    <a:latin typeface="Times New Roman" panose="02020603050405020304" pitchFamily="18" charset="0"/>
                    <a:ea typeface="Calibri" panose="020F0502020204030204" pitchFamily="34" charset="0"/>
                    <a:cs typeface="Times New Roman" panose="02020603050405020304" pitchFamily="18" charset="0"/>
                  </a:rPr>
                  <a:t> along </a:t>
                </a:r>
                <a:r>
                  <a:rPr lang="en-US" sz="3800" u="none" strike="noStrike" dirty="0" err="1">
                    <a:effectLst/>
                    <a:latin typeface="Times New Roman" panose="02020603050405020304" pitchFamily="18" charset="0"/>
                    <a:ea typeface="Calibri" panose="020F0502020204030204" pitchFamily="34" charset="0"/>
                    <a:cs typeface="Times New Roman" panose="02020603050405020304" pitchFamily="18" charset="0"/>
                  </a:rPr>
                  <a:t>x,y</a:t>
                </a:r>
                <a:r>
                  <a:rPr lang="en-US" sz="3800" u="none" strike="noStrike" dirty="0">
                    <a:effectLst/>
                    <a:latin typeface="Times New Roman" panose="02020603050405020304" pitchFamily="18" charset="0"/>
                    <a:ea typeface="Calibri" panose="020F0502020204030204" pitchFamily="34" charset="0"/>
                    <a:cs typeface="Times New Roman" panose="02020603050405020304" pitchFamily="18" charset="0"/>
                  </a:rPr>
                  <a:t> and z axis respectively</a:t>
                </a:r>
              </a:p>
              <a:p>
                <a:pPr marL="342900" lvl="0" indent="-342900" algn="just">
                  <a:lnSpc>
                    <a:spcPct val="120000"/>
                  </a:lnSpc>
                  <a:spcAft>
                    <a:spcPts val="1000"/>
                  </a:spcAft>
                  <a:buFont typeface="+mj-lt"/>
                  <a:buAutoNum type="arabicPeriod"/>
                </a:pPr>
                <a:r>
                  <a:rPr lang="en-US" sz="3800" u="none" strike="noStrike" dirty="0">
                    <a:effectLst/>
                    <a:latin typeface="Times New Roman" panose="02020603050405020304" pitchFamily="18" charset="0"/>
                    <a:ea typeface="Calibri" panose="020F0502020204030204" pitchFamily="34" charset="0"/>
                    <a:cs typeface="Times New Roman" panose="02020603050405020304" pitchFamily="18" charset="0"/>
                  </a:rPr>
                  <a:t>Calculate the wavelength of X ray reflected from the faces of a FCC crystal with lattice constant 2.82</a:t>
                </a:r>
                <a14:m>
                  <m:oMath xmlns:m="http://schemas.openxmlformats.org/officeDocument/2006/math">
                    <m:sSup>
                      <m:sSupPr>
                        <m:ctrlPr>
                          <a:rPr lang="en-IN" sz="3800" i="1" u="none" strike="noStrike">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3800" i="1" u="none" strike="noStrike">
                            <a:effectLst/>
                            <a:latin typeface="Cambria Math" panose="02040503050406030204" pitchFamily="18" charset="0"/>
                            <a:ea typeface="Cambria Math" panose="02040503050406030204" pitchFamily="18" charset="0"/>
                            <a:cs typeface="Cambria Math" panose="02040503050406030204" pitchFamily="18" charset="0"/>
                          </a:rPr>
                          <m:t>𝐴</m:t>
                        </m:r>
                      </m:e>
                      <m:sup>
                        <m:r>
                          <a:rPr lang="en-US" sz="3800" i="1" u="none" strike="noStrike">
                            <a:effectLst/>
                            <a:latin typeface="Cambria Math" panose="02040503050406030204" pitchFamily="18" charset="0"/>
                            <a:ea typeface="Cambria Math" panose="02040503050406030204" pitchFamily="18" charset="0"/>
                            <a:cs typeface="Cambria Math" panose="02040503050406030204" pitchFamily="18" charset="0"/>
                          </a:rPr>
                          <m:t>0</m:t>
                        </m:r>
                      </m:sup>
                    </m:sSup>
                  </m:oMath>
                </a14:m>
                <a:r>
                  <a:rPr lang="en-US" sz="3800" u="none" strike="noStrike" dirty="0">
                    <a:effectLst/>
                    <a:latin typeface="Times New Roman" panose="02020603050405020304" pitchFamily="18" charset="0"/>
                    <a:ea typeface="Calibri" panose="020F0502020204030204" pitchFamily="34" charset="0"/>
                    <a:cs typeface="Times New Roman" panose="02020603050405020304" pitchFamily="18" charset="0"/>
                  </a:rPr>
                  <a:t>.If the second order </a:t>
                </a:r>
                <a:r>
                  <a:rPr lang="en-US" sz="3800" u="none" strike="noStrike" dirty="0" err="1">
                    <a:effectLst/>
                    <a:latin typeface="Times New Roman" panose="02020603050405020304" pitchFamily="18" charset="0"/>
                    <a:ea typeface="Calibri" panose="020F0502020204030204" pitchFamily="34" charset="0"/>
                    <a:cs typeface="Times New Roman" panose="02020603050405020304" pitchFamily="18" charset="0"/>
                  </a:rPr>
                  <a:t>bragg</a:t>
                </a:r>
                <a:r>
                  <a:rPr lang="en-US" sz="3800" u="none" strike="noStrike" dirty="0">
                    <a:effectLst/>
                    <a:latin typeface="Times New Roman" panose="02020603050405020304" pitchFamily="18" charset="0"/>
                    <a:ea typeface="Calibri" panose="020F0502020204030204" pitchFamily="34" charset="0"/>
                    <a:cs typeface="Times New Roman" panose="02020603050405020304" pitchFamily="18" charset="0"/>
                  </a:rPr>
                  <a:t> reflection occurs at a glancing angle of 17.167</a:t>
                </a:r>
                <a14:m>
                  <m:oMath xmlns:m="http://schemas.openxmlformats.org/officeDocument/2006/math">
                    <m:sSup>
                      <m:sSupPr>
                        <m:ctrlPr>
                          <a:rPr lang="en-IN" sz="3800" i="1" u="none" strike="noStrike">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3800" i="1" u="none" strike="noStrike">
                            <a:effectLst/>
                            <a:latin typeface="Cambria Math" panose="02040503050406030204" pitchFamily="18" charset="0"/>
                            <a:ea typeface="Cambria Math" panose="02040503050406030204" pitchFamily="18" charset="0"/>
                            <a:cs typeface="Cambria Math" panose="02040503050406030204" pitchFamily="18" charset="0"/>
                          </a:rPr>
                          <m:t>𝐴</m:t>
                        </m:r>
                      </m:e>
                      <m:sup>
                        <m:r>
                          <a:rPr lang="en-US" sz="3800" i="1" u="none" strike="noStrike">
                            <a:effectLst/>
                            <a:latin typeface="Cambria Math" panose="02040503050406030204" pitchFamily="18" charset="0"/>
                            <a:ea typeface="Cambria Math" panose="02040503050406030204" pitchFamily="18" charset="0"/>
                            <a:cs typeface="Cambria Math" panose="02040503050406030204" pitchFamily="18" charset="0"/>
                          </a:rPr>
                          <m:t>0</m:t>
                        </m:r>
                      </m:sup>
                    </m:sSup>
                  </m:oMath>
                </a14:m>
                <a:r>
                  <a:rPr lang="en-US" sz="3800" dirty="0">
                    <a:effectLst/>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gn="just">
                  <a:lnSpc>
                    <a:spcPct val="120000"/>
                  </a:lnSpc>
                  <a:spcAft>
                    <a:spcPts val="1000"/>
                  </a:spcAft>
                  <a:buFont typeface="+mj-lt"/>
                  <a:buAutoNum type="arabicPeriod"/>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X rays of unknown wavelength give first  order Bragg’s reflection at glancing angle </a:t>
                </a:r>
                <a14:m>
                  <m:oMath xmlns:m="http://schemas.openxmlformats.org/officeDocument/2006/math">
                    <m:sSup>
                      <m:sSupPr>
                        <m:ctrlPr>
                          <a:rPr lang="en-IN" sz="38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3800" i="1">
                            <a:effectLst/>
                            <a:latin typeface="Cambria Math" panose="02040503050406030204" pitchFamily="18" charset="0"/>
                            <a:ea typeface="Cambria Math" panose="02040503050406030204" pitchFamily="18" charset="0"/>
                            <a:cs typeface="Cambria Math" panose="02040503050406030204" pitchFamily="18" charset="0"/>
                          </a:rPr>
                          <m:t>20</m:t>
                        </m:r>
                      </m:e>
                      <m:sup>
                        <m:r>
                          <a:rPr lang="en-US" sz="3800" i="1">
                            <a:effectLst/>
                            <a:latin typeface="Cambria Math" panose="02040503050406030204" pitchFamily="18" charset="0"/>
                            <a:ea typeface="Cambria Math" panose="02040503050406030204" pitchFamily="18" charset="0"/>
                            <a:cs typeface="Cambria Math" panose="02040503050406030204" pitchFamily="18" charset="0"/>
                          </a:rPr>
                          <m:t>0</m:t>
                        </m:r>
                      </m:sup>
                    </m:sSup>
                    <m:r>
                      <a:rPr lang="en-US" sz="3800" i="1">
                        <a:effectLst/>
                        <a:latin typeface="Cambria Math" panose="02040503050406030204" pitchFamily="18" charset="0"/>
                        <a:ea typeface="Cambria Math" panose="02040503050406030204" pitchFamily="18" charset="0"/>
                        <a:cs typeface="Cambria Math" panose="02040503050406030204" pitchFamily="18" charset="0"/>
                      </a:rPr>
                      <m:t> </m:t>
                    </m:r>
                    <m:r>
                      <a:rPr lang="en-US" sz="3800" i="1">
                        <a:effectLst/>
                        <a:latin typeface="Cambria Math" panose="02040503050406030204" pitchFamily="18" charset="0"/>
                        <a:ea typeface="Cambria Math" panose="02040503050406030204" pitchFamily="18" charset="0"/>
                        <a:cs typeface="Cambria Math" panose="02040503050406030204" pitchFamily="18" charset="0"/>
                      </a:rPr>
                      <m:t>𝑤𝑖𝑡h</m:t>
                    </m:r>
                  </m:oMath>
                </a14:m>
                <a:r>
                  <a:rPr lang="en-US" sz="3800" dirty="0">
                    <a:effectLst/>
                    <a:latin typeface="Times New Roman" panose="02020603050405020304" pitchFamily="18" charset="0"/>
                    <a:ea typeface="Calibri" panose="020F0502020204030204" pitchFamily="34" charset="0"/>
                    <a:cs typeface="Times New Roman" panose="02020603050405020304" pitchFamily="18" charset="0"/>
                  </a:rPr>
                  <a:t> (212) planes of copper having FCC </a:t>
                </a:r>
                <a:r>
                  <a:rPr lang="en-US" sz="3800" dirty="0" err="1">
                    <a:effectLst/>
                    <a:latin typeface="Times New Roman" panose="02020603050405020304" pitchFamily="18" charset="0"/>
                    <a:ea typeface="Calibri" panose="020F0502020204030204" pitchFamily="34" charset="0"/>
                    <a:cs typeface="Times New Roman" panose="02020603050405020304" pitchFamily="18" charset="0"/>
                  </a:rPr>
                  <a:t>structure.Find</a:t>
                </a: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 the wavelength if lattice constant for copper is </a:t>
                </a:r>
                <a14:m>
                  <m:oMath xmlns:m="http://schemas.openxmlformats.org/officeDocument/2006/math">
                    <m:sSup>
                      <m:sSupPr>
                        <m:ctrlPr>
                          <a:rPr lang="en-IN" sz="38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3800" i="1">
                            <a:effectLst/>
                            <a:latin typeface="Cambria Math" panose="02040503050406030204" pitchFamily="18" charset="0"/>
                            <a:ea typeface="Cambria Math" panose="02040503050406030204" pitchFamily="18" charset="0"/>
                            <a:cs typeface="Cambria Math" panose="02040503050406030204" pitchFamily="18" charset="0"/>
                          </a:rPr>
                          <m:t>3.615</m:t>
                        </m:r>
                        <m:r>
                          <a:rPr lang="en-US" sz="3800" i="1">
                            <a:effectLst/>
                            <a:latin typeface="Cambria Math" panose="02040503050406030204" pitchFamily="18" charset="0"/>
                            <a:ea typeface="Cambria Math" panose="02040503050406030204" pitchFamily="18" charset="0"/>
                            <a:cs typeface="Cambria Math" panose="02040503050406030204" pitchFamily="18" charset="0"/>
                          </a:rPr>
                          <m:t>𝐴</m:t>
                        </m:r>
                      </m:e>
                      <m:sup>
                        <m:r>
                          <a:rPr lang="en-US" sz="3800" i="1">
                            <a:effectLst/>
                            <a:latin typeface="Cambria Math" panose="02040503050406030204" pitchFamily="18" charset="0"/>
                            <a:ea typeface="Cambria Math" panose="02040503050406030204" pitchFamily="18" charset="0"/>
                            <a:cs typeface="Cambria Math" panose="02040503050406030204" pitchFamily="18" charset="0"/>
                          </a:rPr>
                          <m:t>0</m:t>
                        </m:r>
                      </m:sup>
                    </m:sSup>
                    <m:r>
                      <a:rPr lang="en-IN" sz="3800" b="0" i="0" smtClean="0">
                        <a:effectLst/>
                        <a:latin typeface="Cambria Math" panose="02040503050406030204" pitchFamily="18" charset="0"/>
                        <a:ea typeface="Cambria Math" panose="02040503050406030204" pitchFamily="18" charset="0"/>
                        <a:cs typeface="Cambria Math" panose="02040503050406030204" pitchFamily="18" charset="0"/>
                      </a:rPr>
                      <m:t> </m:t>
                    </m:r>
                  </m:oMath>
                </a14:m>
                <a:endParaRPr lang="en-US" sz="3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20000"/>
                  </a:lnSpc>
                  <a:spcAft>
                    <a:spcPts val="1000"/>
                  </a:spcAft>
                  <a:buFont typeface="+mj-lt"/>
                  <a:buAutoNum type="arabicPeriod"/>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The first order diffraction is found to occur at a glancing angle of 9°. Calculate the wavelength of X-ray and the glancing angle for second order diffraction if the spacing between the adjacent plane is 2.51 Å.</a:t>
                </a:r>
                <a:endParaRPr lang="en-US" sz="3800" b="1" baseline="30000" dirty="0">
                  <a:highlight>
                    <a:srgbClr val="FFFF00"/>
                  </a:highligh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20000"/>
                  </a:lnSpc>
                  <a:spcAft>
                    <a:spcPts val="1000"/>
                  </a:spcAft>
                  <a:buFont typeface="+mj-lt"/>
                  <a:buAutoNum type="arabicPeriod"/>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Calculate the Bragg angle if (200) planes of a BCC crystal with lattice parameter 2.814 A</a:t>
                </a:r>
                <a:r>
                  <a:rPr lang="en-US" sz="3800" baseline="3000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 give second order reflection with X-rays of wavelength 0.71 A</a:t>
                </a:r>
                <a:r>
                  <a:rPr lang="en-US" sz="3800" baseline="30000" dirty="0">
                    <a:effectLst/>
                    <a:latin typeface="Times New Roman" panose="02020603050405020304" pitchFamily="18" charset="0"/>
                    <a:ea typeface="Calibri" panose="020F0502020204030204" pitchFamily="34" charset="0"/>
                    <a:cs typeface="Times New Roman" panose="02020603050405020304" pitchFamily="18" charset="0"/>
                  </a:rPr>
                  <a:t>0.</a:t>
                </a:r>
              </a:p>
              <a:p>
                <a:pPr marL="342900" lvl="0" indent="-342900" algn="just">
                  <a:lnSpc>
                    <a:spcPct val="120000"/>
                  </a:lnSpc>
                  <a:spcAft>
                    <a:spcPts val="1000"/>
                  </a:spcAft>
                  <a:buFont typeface="+mj-lt"/>
                  <a:buAutoNum type="arabicPeriod"/>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Calculate the maximum order of diffraction if X-rays of wavelength 0.819 A</a:t>
                </a:r>
                <a:r>
                  <a:rPr lang="en-US" sz="3800" baseline="3000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 incident on a crystal of lattice spacing 0.282 nm.</a:t>
                </a:r>
              </a:p>
              <a:p>
                <a:pPr marL="342900" lvl="0" indent="-342900" algn="just">
                  <a:lnSpc>
                    <a:spcPct val="120000"/>
                  </a:lnSpc>
                  <a:spcAft>
                    <a:spcPts val="1000"/>
                  </a:spcAft>
                  <a:buFont typeface="+mj-lt"/>
                  <a:buAutoNum type="arabicPeriod"/>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Monochromatic high energy X rays are incident on a crystal. If 1</a:t>
                </a:r>
                <a:r>
                  <a:rPr lang="en-US" sz="3800" baseline="30000" dirty="0">
                    <a:effectLst/>
                    <a:latin typeface="Times New Roman" panose="02020603050405020304" pitchFamily="18" charset="0"/>
                    <a:ea typeface="Calibri" panose="020F0502020204030204" pitchFamily="34" charset="0"/>
                    <a:cs typeface="Times New Roman" panose="02020603050405020304" pitchFamily="18" charset="0"/>
                  </a:rPr>
                  <a:t>st</a:t>
                </a: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 order reflection is observed at an angle </a:t>
                </a:r>
                <a14:m>
                  <m:oMath xmlns:m="http://schemas.openxmlformats.org/officeDocument/2006/math">
                    <m:sSup>
                      <m:sSupPr>
                        <m:ctrlPr>
                          <a:rPr lang="en-IN" sz="38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3800" i="1">
                            <a:effectLst/>
                            <a:latin typeface="Cambria Math" panose="02040503050406030204" pitchFamily="18" charset="0"/>
                            <a:ea typeface="Cambria Math" panose="02040503050406030204" pitchFamily="18" charset="0"/>
                            <a:cs typeface="Cambria Math" panose="02040503050406030204" pitchFamily="18" charset="0"/>
                          </a:rPr>
                          <m:t>3.4</m:t>
                        </m:r>
                      </m:e>
                      <m:sup>
                        <m:r>
                          <a:rPr lang="en-US" sz="3800" i="1">
                            <a:effectLst/>
                            <a:latin typeface="Cambria Math" panose="02040503050406030204" pitchFamily="18" charset="0"/>
                            <a:ea typeface="Cambria Math" panose="02040503050406030204" pitchFamily="18" charset="0"/>
                            <a:cs typeface="Cambria Math" panose="02040503050406030204" pitchFamily="18" charset="0"/>
                          </a:rPr>
                          <m:t>0</m:t>
                        </m:r>
                      </m:sup>
                    </m:sSup>
                  </m:oMath>
                </a14:m>
                <a:r>
                  <a:rPr lang="en-US" sz="3800" dirty="0">
                    <a:effectLst/>
                    <a:latin typeface="Times New Roman" panose="02020603050405020304" pitchFamily="18" charset="0"/>
                    <a:ea typeface="Calibri" panose="020F0502020204030204" pitchFamily="34" charset="0"/>
                    <a:cs typeface="Times New Roman" panose="02020603050405020304" pitchFamily="18" charset="0"/>
                  </a:rPr>
                  <a:t>,at what angle 2</a:t>
                </a:r>
                <a:r>
                  <a:rPr lang="en-US" sz="3800" baseline="30000" dirty="0">
                    <a:effectLst/>
                    <a:latin typeface="Times New Roman" panose="02020603050405020304" pitchFamily="18" charset="0"/>
                    <a:ea typeface="Calibri" panose="020F0502020204030204" pitchFamily="34" charset="0"/>
                    <a:cs typeface="Times New Roman" panose="02020603050405020304" pitchFamily="18" charset="0"/>
                  </a:rPr>
                  <a:t>nd</a:t>
                </a: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  order reflection be expected?</a:t>
                </a:r>
                <a:endParaRPr lang="en-IN" sz="3800" b="1" dirty="0">
                  <a:effectLst/>
                  <a:highlight>
                    <a:srgbClr val="FFFF00"/>
                  </a:highlight>
                  <a:latin typeface="Times New Roman" panose="02020603050405020304" pitchFamily="18" charset="0"/>
                  <a:ea typeface="Cambria Math" panose="02040503050406030204" pitchFamily="18" charset="0"/>
                  <a:cs typeface="Times New Roman" panose="02020603050405020304" pitchFamily="18" charset="0"/>
                </a:endParaRPr>
              </a:p>
              <a:p>
                <a:pPr marL="342900" lvl="0" indent="-342900" algn="just">
                  <a:lnSpc>
                    <a:spcPct val="120000"/>
                  </a:lnSpc>
                  <a:spcAft>
                    <a:spcPts val="1000"/>
                  </a:spcAft>
                  <a:buFont typeface="+mj-lt"/>
                  <a:buAutoNum type="arabicPeriod"/>
                </a:pPr>
                <a:r>
                  <a:rPr lang="en-US" sz="3800" dirty="0">
                    <a:effectLst/>
                    <a:latin typeface="Times New Roman" panose="02020603050405020304" pitchFamily="18" charset="0"/>
                    <a:ea typeface="Calibri" panose="020F0502020204030204" pitchFamily="34" charset="0"/>
                    <a:cs typeface="Times New Roman" panose="02020603050405020304" pitchFamily="18" charset="0"/>
                  </a:rPr>
                  <a:t>Calculate Bragg angle if (200) planes of a BCC crystal with lattice parameter 2.814</a:t>
                </a:r>
                <a14:m>
                  <m:oMath xmlns:m="http://schemas.openxmlformats.org/officeDocument/2006/math">
                    <m:sSup>
                      <m:sSupPr>
                        <m:ctrlPr>
                          <a:rPr lang="en-IN" sz="38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3800" i="1">
                            <a:effectLst/>
                            <a:latin typeface="Cambria Math" panose="02040503050406030204" pitchFamily="18" charset="0"/>
                            <a:ea typeface="Cambria Math" panose="02040503050406030204" pitchFamily="18" charset="0"/>
                            <a:cs typeface="Cambria Math" panose="02040503050406030204" pitchFamily="18" charset="0"/>
                          </a:rPr>
                          <m:t>𝐴</m:t>
                        </m:r>
                      </m:e>
                      <m:sup>
                        <m:r>
                          <a:rPr lang="en-US" sz="3800" i="1">
                            <a:effectLst/>
                            <a:latin typeface="Cambria Math" panose="02040503050406030204" pitchFamily="18" charset="0"/>
                            <a:ea typeface="Cambria Math" panose="02040503050406030204" pitchFamily="18" charset="0"/>
                            <a:cs typeface="Cambria Math" panose="02040503050406030204" pitchFamily="18" charset="0"/>
                          </a:rPr>
                          <m:t>0</m:t>
                        </m:r>
                      </m:sup>
                    </m:sSup>
                  </m:oMath>
                </a14:m>
                <a:r>
                  <a:rPr lang="en-US" sz="3800" dirty="0">
                    <a:effectLst/>
                    <a:latin typeface="Times New Roman" panose="02020603050405020304" pitchFamily="18" charset="0"/>
                    <a:ea typeface="Calibri" panose="020F0502020204030204" pitchFamily="34" charset="0"/>
                    <a:cs typeface="Times New Roman" panose="02020603050405020304" pitchFamily="18" charset="0"/>
                  </a:rPr>
                  <a:t> give second order reflection with X rays of wavelength 0.71</a:t>
                </a:r>
                <a14:m>
                  <m:oMath xmlns:m="http://schemas.openxmlformats.org/officeDocument/2006/math">
                    <m:sSup>
                      <m:sSupPr>
                        <m:ctrlPr>
                          <a:rPr lang="en-IN" sz="38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3800" i="1">
                            <a:effectLst/>
                            <a:latin typeface="Cambria Math" panose="02040503050406030204" pitchFamily="18" charset="0"/>
                            <a:ea typeface="Cambria Math" panose="02040503050406030204" pitchFamily="18" charset="0"/>
                            <a:cs typeface="Cambria Math" panose="02040503050406030204" pitchFamily="18" charset="0"/>
                          </a:rPr>
                          <m:t>𝐴</m:t>
                        </m:r>
                      </m:e>
                      <m:sup>
                        <m:r>
                          <a:rPr lang="en-US" sz="3800" i="1">
                            <a:effectLst/>
                            <a:latin typeface="Cambria Math" panose="02040503050406030204" pitchFamily="18" charset="0"/>
                            <a:ea typeface="Cambria Math" panose="02040503050406030204" pitchFamily="18" charset="0"/>
                            <a:cs typeface="Cambria Math" panose="02040503050406030204" pitchFamily="18" charset="0"/>
                          </a:rPr>
                          <m:t>0</m:t>
                        </m:r>
                      </m:sup>
                    </m:sSup>
                  </m:oMath>
                </a14:m>
                <a:endParaRPr lang="en-IN" sz="3800" dirty="0">
                  <a:effectLs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IN" sz="2200" dirty="0">
                  <a:effectLs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IN" sz="1800" dirty="0">
                  <a:effectLs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IN" sz="1800" dirty="0">
                  <a:effectLs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IN" sz="1800" dirty="0">
                  <a:effectLs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US" sz="1800" b="1" dirty="0">
                  <a:effectLst/>
                  <a:highlight>
                    <a:srgbClr val="FFFF00"/>
                  </a:highligh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IN" sz="1800" dirty="0">
                  <a:effectLs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IN" sz="1800" dirty="0">
                  <a:effectLs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IN" sz="1800" dirty="0">
                  <a:effectLs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IN" sz="1800" dirty="0">
                  <a:effectLs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IN" sz="1800" dirty="0">
                  <a:effectLst/>
                  <a:latin typeface="Calibri" panose="020F0502020204030204" pitchFamily="34" charset="0"/>
                  <a:ea typeface="Calibri" panose="020F0502020204030204" pitchFamily="34" charset="0"/>
                </a:endParaRPr>
              </a:p>
              <a:p>
                <a:pPr marL="514350" indent="-514350">
                  <a:buFont typeface="+mj-lt"/>
                  <a:buAutoNum type="arabicPeriod"/>
                </a:pPr>
                <a:endParaRPr lang="en-IN" dirty="0"/>
              </a:p>
            </p:txBody>
          </p:sp>
        </mc:Choice>
        <mc:Fallback>
          <p:sp>
            <p:nvSpPr>
              <p:cNvPr id="3" name="Content Placeholder 2">
                <a:extLst>
                  <a:ext uri="{FF2B5EF4-FFF2-40B4-BE49-F238E27FC236}">
                    <a16:creationId xmlns:a16="http://schemas.microsoft.com/office/drawing/2014/main" id="{74EF35F8-A032-404F-8EAE-2C98CF82719E}"/>
                  </a:ext>
                </a:extLst>
              </p:cNvPr>
              <p:cNvSpPr>
                <a:spLocks noGrp="1" noRot="1" noChangeAspect="1" noMove="1" noResize="1" noEditPoints="1" noAdjustHandles="1" noChangeArrowheads="1" noChangeShapeType="1" noTextEdit="1"/>
              </p:cNvSpPr>
              <p:nvPr>
                <p:ph idx="1"/>
              </p:nvPr>
            </p:nvSpPr>
            <p:spPr>
              <a:xfrm>
                <a:off x="0" y="0"/>
                <a:ext cx="12191999" cy="6857999"/>
              </a:xfrm>
              <a:blipFill>
                <a:blip r:embed="rId2"/>
                <a:stretch>
                  <a:fillRect l="-150" t="-178" r="-200"/>
                </a:stretch>
              </a:blipFill>
            </p:spPr>
            <p:txBody>
              <a:bodyPr/>
              <a:lstStyle/>
              <a:p>
                <a:r>
                  <a:rPr lang="en-IN">
                    <a:noFill/>
                  </a:rPr>
                  <a:t> </a:t>
                </a:r>
              </a:p>
            </p:txBody>
          </p:sp>
        </mc:Fallback>
      </mc:AlternateContent>
    </p:spTree>
    <p:extLst>
      <p:ext uri="{BB962C8B-B14F-4D97-AF65-F5344CB8AC3E}">
        <p14:creationId xmlns:p14="http://schemas.microsoft.com/office/powerpoint/2010/main" val="2703046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4EF35F8-A032-404F-8EAE-2C98CF82719E}"/>
                  </a:ext>
                </a:extLst>
              </p:cNvPr>
              <p:cNvSpPr>
                <a:spLocks noGrp="1"/>
              </p:cNvSpPr>
              <p:nvPr>
                <p:ph idx="1"/>
              </p:nvPr>
            </p:nvSpPr>
            <p:spPr>
              <a:xfrm>
                <a:off x="0" y="0"/>
                <a:ext cx="12191999" cy="6857999"/>
              </a:xfrm>
            </p:spPr>
            <p:txBody>
              <a:bodyPr>
                <a:normAutofit fontScale="40000" lnSpcReduction="20000"/>
              </a:bodyPr>
              <a:lstStyle/>
              <a:p>
                <a:pPr marL="342900" lvl="0" indent="-342900" algn="just">
                  <a:lnSpc>
                    <a:spcPct val="120000"/>
                  </a:lnSpc>
                  <a:spcAft>
                    <a:spcPts val="1000"/>
                  </a:spcAft>
                  <a:buFont typeface="+mj-lt"/>
                  <a:buAutoNum type="arabicPeriod"/>
                </a:pPr>
                <a:r>
                  <a:rPr lang="en-US" sz="3500" u="none" strike="noStrike" dirty="0">
                    <a:effectLst/>
                    <a:latin typeface="Times New Roman" panose="02020603050405020304" pitchFamily="18" charset="0"/>
                    <a:ea typeface="Calibri" panose="020F0502020204030204" pitchFamily="34" charset="0"/>
                    <a:cs typeface="Times New Roman" panose="02020603050405020304" pitchFamily="18" charset="0"/>
                  </a:rPr>
                  <a:t>Find the interplanar spacing between family of planes (111)in a crystal of lattice constant 3A</a:t>
                </a:r>
                <a:r>
                  <a:rPr lang="en-US" sz="3500" u="none" strike="noStrike" baseline="3000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3500" u="none" strike="noStrike"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3500" b="1" dirty="0">
                    <a:solidFill>
                      <a:srgbClr val="000000"/>
                    </a:solidFill>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(Ans: d</a:t>
                </a:r>
                <a:r>
                  <a:rPr lang="en-US" sz="3500" b="1" baseline="-25000" dirty="0">
                    <a:solidFill>
                      <a:srgbClr val="000000"/>
                    </a:solidFill>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111</a:t>
                </a:r>
                <a:r>
                  <a:rPr lang="en-US" sz="3500" b="1" dirty="0">
                    <a:solidFill>
                      <a:srgbClr val="000000"/>
                    </a:solidFill>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=1.732 A</a:t>
                </a:r>
                <a:r>
                  <a:rPr lang="en-US" sz="3500" b="1" baseline="30000" dirty="0">
                    <a:solidFill>
                      <a:srgbClr val="000000"/>
                    </a:solidFill>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0</a:t>
                </a:r>
                <a:r>
                  <a:rPr lang="en-US" sz="3500" b="1" dirty="0">
                    <a:solidFill>
                      <a:srgbClr val="000000"/>
                    </a:solidFill>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gn="just">
                  <a:lnSpc>
                    <a:spcPct val="120000"/>
                  </a:lnSpc>
                  <a:spcAft>
                    <a:spcPts val="1000"/>
                  </a:spcAft>
                  <a:buFont typeface="+mj-lt"/>
                  <a:buAutoNum type="arabicPeriod"/>
                </a:pPr>
                <a:r>
                  <a:rPr lang="en-US" sz="3500" u="none" strike="noStrike" dirty="0">
                    <a:effectLst/>
                    <a:latin typeface="Times New Roman" panose="02020603050405020304" pitchFamily="18" charset="0"/>
                    <a:ea typeface="Calibri" panose="020F0502020204030204" pitchFamily="34" charset="0"/>
                    <a:cs typeface="Times New Roman" panose="02020603050405020304" pitchFamily="18" charset="0"/>
                  </a:rPr>
                  <a:t>In a crystal whose primitive vectors are 1.2A</a:t>
                </a:r>
                <a:r>
                  <a:rPr lang="en-US" sz="3500" u="none" strike="noStrike" baseline="3000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3500" u="none" strike="noStrike" dirty="0">
                    <a:effectLst/>
                    <a:latin typeface="Times New Roman" panose="02020603050405020304" pitchFamily="18" charset="0"/>
                    <a:ea typeface="Calibri" panose="020F0502020204030204" pitchFamily="34" charset="0"/>
                    <a:cs typeface="Times New Roman" panose="02020603050405020304" pitchFamily="18" charset="0"/>
                  </a:rPr>
                  <a:t>,1.8 A</a:t>
                </a:r>
                <a:r>
                  <a:rPr lang="en-US" sz="3500" u="none" strike="noStrike" baseline="30000" dirty="0">
                    <a:effectLst/>
                    <a:latin typeface="Times New Roman" panose="02020603050405020304" pitchFamily="18" charset="0"/>
                    <a:ea typeface="Calibri" panose="020F0502020204030204" pitchFamily="34" charset="0"/>
                    <a:cs typeface="Times New Roman" panose="02020603050405020304" pitchFamily="18" charset="0"/>
                  </a:rPr>
                  <a:t>0 </a:t>
                </a:r>
                <a:r>
                  <a:rPr lang="en-US" sz="3500" u="none" strike="noStrike" dirty="0">
                    <a:effectLst/>
                    <a:latin typeface="Times New Roman" panose="02020603050405020304" pitchFamily="18" charset="0"/>
                    <a:ea typeface="Calibri" panose="020F0502020204030204" pitchFamily="34" charset="0"/>
                    <a:cs typeface="Times New Roman" panose="02020603050405020304" pitchFamily="18" charset="0"/>
                  </a:rPr>
                  <a:t>And 2 A</a:t>
                </a:r>
                <a:r>
                  <a:rPr lang="en-US" sz="3500" u="none" strike="noStrike" baseline="3000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3500" u="none" strike="noStrike" dirty="0">
                    <a:effectLst/>
                    <a:latin typeface="Times New Roman" panose="02020603050405020304" pitchFamily="18" charset="0"/>
                    <a:ea typeface="Calibri" panose="020F0502020204030204" pitchFamily="34" charset="0"/>
                    <a:cs typeface="Times New Roman" panose="02020603050405020304" pitchFamily="18" charset="0"/>
                  </a:rPr>
                  <a:t> for (231) plane that cuts an intercept of 1.2 A</a:t>
                </a:r>
                <a:r>
                  <a:rPr lang="en-US" sz="3500" u="none" strike="noStrike" baseline="3000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3500" u="none" strike="noStrike" dirty="0">
                    <a:effectLst/>
                    <a:latin typeface="Times New Roman" panose="02020603050405020304" pitchFamily="18" charset="0"/>
                    <a:ea typeface="Calibri" panose="020F0502020204030204" pitchFamily="34" charset="0"/>
                    <a:cs typeface="Times New Roman" panose="02020603050405020304" pitchFamily="18" charset="0"/>
                  </a:rPr>
                  <a:t> along the x-axis, find the length of the intercepts along the y and z-axis.</a:t>
                </a:r>
                <a:r>
                  <a:rPr lang="en-US" sz="3500" b="1" dirty="0">
                    <a:solidFill>
                      <a:srgbClr val="000000"/>
                    </a:solidFill>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(Ans: y int= 1.2 A</a:t>
                </a:r>
                <a:r>
                  <a:rPr lang="en-US" sz="3500" b="1" baseline="30000" dirty="0">
                    <a:solidFill>
                      <a:srgbClr val="000000"/>
                    </a:solidFill>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0</a:t>
                </a:r>
                <a:r>
                  <a:rPr lang="en-US" sz="3500" b="1" dirty="0">
                    <a:solidFill>
                      <a:srgbClr val="000000"/>
                    </a:solidFill>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 z int =4A</a:t>
                </a:r>
                <a:r>
                  <a:rPr lang="en-US" sz="3500" b="1" baseline="30000" dirty="0">
                    <a:solidFill>
                      <a:srgbClr val="000000"/>
                    </a:solidFill>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0</a:t>
                </a:r>
                <a:r>
                  <a:rPr lang="en-US" sz="3500" b="1" dirty="0">
                    <a:solidFill>
                      <a:srgbClr val="000000"/>
                    </a:solidFill>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gn="just">
                  <a:lnSpc>
                    <a:spcPct val="120000"/>
                  </a:lnSpc>
                  <a:spcAft>
                    <a:spcPts val="1000"/>
                  </a:spcAft>
                  <a:buFont typeface="+mj-lt"/>
                  <a:buAutoNum type="arabicPeriod"/>
                </a:pPr>
                <a:r>
                  <a:rPr lang="en-IN" sz="3500" u="none" strike="noStrike"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500" u="none" strike="noStrike" dirty="0">
                    <a:effectLst/>
                    <a:latin typeface="Times New Roman" panose="02020603050405020304" pitchFamily="18" charset="0"/>
                    <a:ea typeface="Calibri" panose="020F0502020204030204" pitchFamily="34" charset="0"/>
                    <a:cs typeface="Times New Roman" panose="02020603050405020304" pitchFamily="18" charset="0"/>
                  </a:rPr>
                  <a:t>Find the miller indices of a set of parallel planes which makes the intercepts in the ratio 3a:4b on the x and y axis respectively and are parallel to the z axis. The basis vectors of the unit cell are </a:t>
                </a:r>
                <a:r>
                  <a:rPr lang="en-US" sz="3500" u="none" strike="noStrike" dirty="0" err="1">
                    <a:effectLst/>
                    <a:latin typeface="Times New Roman" panose="02020603050405020304" pitchFamily="18" charset="0"/>
                    <a:ea typeface="Calibri" panose="020F0502020204030204" pitchFamily="34" charset="0"/>
                    <a:cs typeface="Times New Roman" panose="02020603050405020304" pitchFamily="18" charset="0"/>
                  </a:rPr>
                  <a:t>a,b,c</a:t>
                </a:r>
                <a:r>
                  <a:rPr lang="en-US" sz="3500" u="none" strike="noStrike" dirty="0">
                    <a:effectLst/>
                    <a:latin typeface="Times New Roman" panose="02020603050405020304" pitchFamily="18" charset="0"/>
                    <a:ea typeface="Calibri" panose="020F0502020204030204" pitchFamily="34" charset="0"/>
                    <a:cs typeface="Times New Roman" panose="02020603050405020304" pitchFamily="18" charset="0"/>
                  </a:rPr>
                  <a:t> along </a:t>
                </a:r>
                <a:r>
                  <a:rPr lang="en-US" sz="3500" u="none" strike="noStrike" dirty="0" err="1">
                    <a:effectLst/>
                    <a:latin typeface="Times New Roman" panose="02020603050405020304" pitchFamily="18" charset="0"/>
                    <a:ea typeface="Calibri" panose="020F0502020204030204" pitchFamily="34" charset="0"/>
                    <a:cs typeface="Times New Roman" panose="02020603050405020304" pitchFamily="18" charset="0"/>
                  </a:rPr>
                  <a:t>x,y</a:t>
                </a:r>
                <a:r>
                  <a:rPr lang="en-US" sz="3500" u="none" strike="noStrike" dirty="0">
                    <a:effectLst/>
                    <a:latin typeface="Times New Roman" panose="02020603050405020304" pitchFamily="18" charset="0"/>
                    <a:ea typeface="Calibri" panose="020F0502020204030204" pitchFamily="34" charset="0"/>
                    <a:cs typeface="Times New Roman" panose="02020603050405020304" pitchFamily="18" charset="0"/>
                  </a:rPr>
                  <a:t> and z axis respectively.</a:t>
                </a:r>
                <a:r>
                  <a:rPr lang="en-US" sz="3500" b="1" dirty="0">
                    <a:solidFill>
                      <a:srgbClr val="000000"/>
                    </a:solidFill>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(Ans:430)</a:t>
                </a:r>
              </a:p>
              <a:p>
                <a:pPr marL="342900" lvl="0" indent="-342900" algn="just">
                  <a:lnSpc>
                    <a:spcPct val="120000"/>
                  </a:lnSpc>
                  <a:spcAft>
                    <a:spcPts val="1000"/>
                  </a:spcAft>
                  <a:buFont typeface="+mj-lt"/>
                  <a:buAutoNum type="arabicPeriod"/>
                </a:pPr>
                <a:r>
                  <a:rPr lang="en-US" sz="3500" u="none" strike="noStrike" dirty="0">
                    <a:effectLst/>
                    <a:latin typeface="Times New Roman" panose="02020603050405020304" pitchFamily="18" charset="0"/>
                    <a:ea typeface="Calibri" panose="020F0502020204030204" pitchFamily="34" charset="0"/>
                    <a:cs typeface="Times New Roman" panose="02020603050405020304" pitchFamily="18" charset="0"/>
                  </a:rPr>
                  <a:t>Calculate the wavelength of X ray reflected from the faces of a FCC crystal with lattice constant 2.82</a:t>
                </a:r>
                <a14:m>
                  <m:oMath xmlns:m="http://schemas.openxmlformats.org/officeDocument/2006/math">
                    <m:sSup>
                      <m:sSupPr>
                        <m:ctrlPr>
                          <a:rPr lang="en-IN" sz="3500" i="1" u="none" strike="noStrike">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3500" i="1" u="none" strike="noStrike">
                            <a:effectLst/>
                            <a:latin typeface="Cambria Math" panose="02040503050406030204" pitchFamily="18" charset="0"/>
                            <a:ea typeface="Cambria Math" panose="02040503050406030204" pitchFamily="18" charset="0"/>
                            <a:cs typeface="Cambria Math" panose="02040503050406030204" pitchFamily="18" charset="0"/>
                          </a:rPr>
                          <m:t>𝐴</m:t>
                        </m:r>
                      </m:e>
                      <m:sup>
                        <m:r>
                          <a:rPr lang="en-US" sz="3500" i="1" u="none" strike="noStrike">
                            <a:effectLst/>
                            <a:latin typeface="Cambria Math" panose="02040503050406030204" pitchFamily="18" charset="0"/>
                            <a:ea typeface="Cambria Math" panose="02040503050406030204" pitchFamily="18" charset="0"/>
                            <a:cs typeface="Cambria Math" panose="02040503050406030204" pitchFamily="18" charset="0"/>
                          </a:rPr>
                          <m:t>0</m:t>
                        </m:r>
                      </m:sup>
                    </m:sSup>
                  </m:oMath>
                </a14:m>
                <a:r>
                  <a:rPr lang="en-US" sz="3500" u="none" strike="noStrike" dirty="0">
                    <a:effectLst/>
                    <a:latin typeface="Times New Roman" panose="02020603050405020304" pitchFamily="18" charset="0"/>
                    <a:ea typeface="Calibri" panose="020F0502020204030204" pitchFamily="34" charset="0"/>
                    <a:cs typeface="Times New Roman" panose="02020603050405020304" pitchFamily="18" charset="0"/>
                  </a:rPr>
                  <a:t>.If the second order </a:t>
                </a:r>
                <a:r>
                  <a:rPr lang="en-US" sz="3500" u="none" strike="noStrike" dirty="0" err="1">
                    <a:effectLst/>
                    <a:latin typeface="Times New Roman" panose="02020603050405020304" pitchFamily="18" charset="0"/>
                    <a:ea typeface="Calibri" panose="020F0502020204030204" pitchFamily="34" charset="0"/>
                    <a:cs typeface="Times New Roman" panose="02020603050405020304" pitchFamily="18" charset="0"/>
                  </a:rPr>
                  <a:t>bragg</a:t>
                </a:r>
                <a:r>
                  <a:rPr lang="en-US" sz="3500" u="none" strike="noStrike" dirty="0">
                    <a:effectLst/>
                    <a:latin typeface="Times New Roman" panose="02020603050405020304" pitchFamily="18" charset="0"/>
                    <a:ea typeface="Calibri" panose="020F0502020204030204" pitchFamily="34" charset="0"/>
                    <a:cs typeface="Times New Roman" panose="02020603050405020304" pitchFamily="18" charset="0"/>
                  </a:rPr>
                  <a:t> reflection occurs at a glancing angle of 17.167</a:t>
                </a:r>
                <a14:m>
                  <m:oMath xmlns:m="http://schemas.openxmlformats.org/officeDocument/2006/math">
                    <m:sSup>
                      <m:sSupPr>
                        <m:ctrlPr>
                          <a:rPr lang="en-IN" sz="3500" i="1" u="none" strike="noStrike">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3500" i="1" u="none" strike="noStrike">
                            <a:effectLst/>
                            <a:latin typeface="Cambria Math" panose="02040503050406030204" pitchFamily="18" charset="0"/>
                            <a:ea typeface="Cambria Math" panose="02040503050406030204" pitchFamily="18" charset="0"/>
                            <a:cs typeface="Cambria Math" panose="02040503050406030204" pitchFamily="18" charset="0"/>
                          </a:rPr>
                          <m:t>𝐴</m:t>
                        </m:r>
                      </m:e>
                      <m:sup>
                        <m:r>
                          <a:rPr lang="en-US" sz="3500" i="1" u="none" strike="noStrike">
                            <a:effectLst/>
                            <a:latin typeface="Cambria Math" panose="02040503050406030204" pitchFamily="18" charset="0"/>
                            <a:ea typeface="Cambria Math" panose="02040503050406030204" pitchFamily="18" charset="0"/>
                            <a:cs typeface="Cambria Math" panose="02040503050406030204" pitchFamily="18" charset="0"/>
                          </a:rPr>
                          <m:t>0</m:t>
                        </m:r>
                      </m:sup>
                    </m:sSup>
                  </m:oMath>
                </a14:m>
                <a:r>
                  <a:rPr lang="en-US" sz="3500" u="none" strike="noStrike"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3500" b="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(Ans:</a:t>
                </a:r>
                <a14:m>
                  <m:oMath xmlns:m="http://schemas.openxmlformats.org/officeDocument/2006/math">
                    <m:r>
                      <a:rPr lang="en-US" sz="3500" b="1" i="1">
                        <a:solidFill>
                          <a:srgbClr val="333333"/>
                        </a:solidFill>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𝝀</m:t>
                    </m:r>
                    <m:r>
                      <a:rPr lang="en-US" sz="3500" b="1" i="1">
                        <a:solidFill>
                          <a:srgbClr val="333333"/>
                        </a:solidFill>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m:t>
                    </m:r>
                    <m:r>
                      <a:rPr lang="en-US" sz="3500" b="1" i="1">
                        <a:solidFill>
                          <a:srgbClr val="333333"/>
                        </a:solidFill>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𝟎</m:t>
                    </m:r>
                    <m:r>
                      <a:rPr lang="en-US" sz="3500" b="1" i="1">
                        <a:solidFill>
                          <a:srgbClr val="333333"/>
                        </a:solidFill>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m:t>
                    </m:r>
                    <m:r>
                      <a:rPr lang="en-US" sz="3500" b="1" i="1">
                        <a:solidFill>
                          <a:srgbClr val="333333"/>
                        </a:solidFill>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𝟖𝟑</m:t>
                    </m:r>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 </m:t>
                    </m:r>
                    <m:sSup>
                      <m:sSupPr>
                        <m:ctrlPr>
                          <a:rPr lang="en-IN"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ctrlPr>
                      </m:sSupPr>
                      <m:e>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𝑨</m:t>
                        </m:r>
                      </m:e>
                      <m:sup>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𝟎</m:t>
                        </m:r>
                      </m:sup>
                    </m:sSup>
                  </m:oMath>
                </a14:m>
                <a:r>
                  <a:rPr lang="en-US" sz="3500" b="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 </a:t>
                </a:r>
                <a:endParaRPr lang="en-US" sz="3500" b="1" dirty="0">
                  <a:highlight>
                    <a:srgbClr val="FFFF00"/>
                  </a:highligh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20000"/>
                  </a:lnSpc>
                  <a:spcAft>
                    <a:spcPts val="1000"/>
                  </a:spcAft>
                  <a:buFont typeface="+mj-lt"/>
                  <a:buAutoNum type="arabicPeriod"/>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X rays of unknown wavelength give first  order Bragg’s reflection at glancing angle </a:t>
                </a:r>
                <a14:m>
                  <m:oMath xmlns:m="http://schemas.openxmlformats.org/officeDocument/2006/math">
                    <m:sSup>
                      <m:sSupPr>
                        <m:ctrlPr>
                          <a:rPr lang="en-IN" sz="35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3500" i="1">
                            <a:effectLst/>
                            <a:latin typeface="Cambria Math" panose="02040503050406030204" pitchFamily="18" charset="0"/>
                            <a:ea typeface="Cambria Math" panose="02040503050406030204" pitchFamily="18" charset="0"/>
                            <a:cs typeface="Cambria Math" panose="02040503050406030204" pitchFamily="18" charset="0"/>
                          </a:rPr>
                          <m:t>20</m:t>
                        </m:r>
                      </m:e>
                      <m:sup>
                        <m:r>
                          <a:rPr lang="en-US" sz="3500" i="1">
                            <a:effectLst/>
                            <a:latin typeface="Cambria Math" panose="02040503050406030204" pitchFamily="18" charset="0"/>
                            <a:ea typeface="Cambria Math" panose="02040503050406030204" pitchFamily="18" charset="0"/>
                            <a:cs typeface="Cambria Math" panose="02040503050406030204" pitchFamily="18" charset="0"/>
                          </a:rPr>
                          <m:t>0</m:t>
                        </m:r>
                      </m:sup>
                    </m:sSup>
                    <m:r>
                      <a:rPr lang="en-US" sz="3500" i="1">
                        <a:effectLst/>
                        <a:latin typeface="Cambria Math" panose="02040503050406030204" pitchFamily="18" charset="0"/>
                        <a:ea typeface="Cambria Math" panose="02040503050406030204" pitchFamily="18" charset="0"/>
                        <a:cs typeface="Cambria Math" panose="02040503050406030204" pitchFamily="18" charset="0"/>
                      </a:rPr>
                      <m:t> </m:t>
                    </m:r>
                    <m:r>
                      <a:rPr lang="en-US" sz="3500" i="1">
                        <a:effectLst/>
                        <a:latin typeface="Cambria Math" panose="02040503050406030204" pitchFamily="18" charset="0"/>
                        <a:ea typeface="Cambria Math" panose="02040503050406030204" pitchFamily="18" charset="0"/>
                        <a:cs typeface="Cambria Math" panose="02040503050406030204" pitchFamily="18" charset="0"/>
                      </a:rPr>
                      <m:t>𝑤𝑖𝑡h</m:t>
                    </m:r>
                  </m:oMath>
                </a14:m>
                <a:r>
                  <a:rPr lang="en-US" sz="3500" dirty="0">
                    <a:effectLst/>
                    <a:latin typeface="Times New Roman" panose="02020603050405020304" pitchFamily="18" charset="0"/>
                    <a:ea typeface="Calibri" panose="020F0502020204030204" pitchFamily="34" charset="0"/>
                    <a:cs typeface="Times New Roman" panose="02020603050405020304" pitchFamily="18" charset="0"/>
                  </a:rPr>
                  <a:t> (212) planes of copper having FCC </a:t>
                </a:r>
                <a:r>
                  <a:rPr lang="en-US" sz="3500" dirty="0" err="1">
                    <a:effectLst/>
                    <a:latin typeface="Times New Roman" panose="02020603050405020304" pitchFamily="18" charset="0"/>
                    <a:ea typeface="Calibri" panose="020F0502020204030204" pitchFamily="34" charset="0"/>
                    <a:cs typeface="Times New Roman" panose="02020603050405020304" pitchFamily="18" charset="0"/>
                  </a:rPr>
                  <a:t>structure.Find</a:t>
                </a: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 the wavelength if lattice constant for copper is </a:t>
                </a:r>
                <a14:m>
                  <m:oMath xmlns:m="http://schemas.openxmlformats.org/officeDocument/2006/math">
                    <m:sSup>
                      <m:sSupPr>
                        <m:ctrlPr>
                          <a:rPr lang="en-IN" sz="35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3500" i="1">
                            <a:effectLst/>
                            <a:latin typeface="Cambria Math" panose="02040503050406030204" pitchFamily="18" charset="0"/>
                            <a:ea typeface="Cambria Math" panose="02040503050406030204" pitchFamily="18" charset="0"/>
                            <a:cs typeface="Cambria Math" panose="02040503050406030204" pitchFamily="18" charset="0"/>
                          </a:rPr>
                          <m:t>3.615</m:t>
                        </m:r>
                        <m:r>
                          <a:rPr lang="en-US" sz="3500" i="1">
                            <a:effectLst/>
                            <a:latin typeface="Cambria Math" panose="02040503050406030204" pitchFamily="18" charset="0"/>
                            <a:ea typeface="Cambria Math" panose="02040503050406030204" pitchFamily="18" charset="0"/>
                            <a:cs typeface="Cambria Math" panose="02040503050406030204" pitchFamily="18" charset="0"/>
                          </a:rPr>
                          <m:t>𝐴</m:t>
                        </m:r>
                      </m:e>
                      <m:sup>
                        <m:r>
                          <a:rPr lang="en-US" sz="3500" i="1">
                            <a:effectLst/>
                            <a:latin typeface="Cambria Math" panose="02040503050406030204" pitchFamily="18" charset="0"/>
                            <a:ea typeface="Cambria Math" panose="02040503050406030204" pitchFamily="18" charset="0"/>
                            <a:cs typeface="Cambria Math" panose="02040503050406030204" pitchFamily="18" charset="0"/>
                          </a:rPr>
                          <m:t>0</m:t>
                        </m:r>
                      </m:sup>
                    </m:sSup>
                    <m:r>
                      <a:rPr lang="en-IN" sz="3500" b="0" i="0" smtClean="0">
                        <a:effectLst/>
                        <a:latin typeface="Cambria Math" panose="02040503050406030204" pitchFamily="18" charset="0"/>
                        <a:ea typeface="Cambria Math" panose="02040503050406030204" pitchFamily="18" charset="0"/>
                        <a:cs typeface="Cambria Math" panose="02040503050406030204" pitchFamily="18" charset="0"/>
                      </a:rPr>
                      <m:t> </m:t>
                    </m:r>
                  </m:oMath>
                </a14:m>
                <a:r>
                  <a:rPr lang="en-US" sz="3500" b="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(Ans:</a:t>
                </a:r>
                <a14:m>
                  <m:oMath xmlns:m="http://schemas.openxmlformats.org/officeDocument/2006/math">
                    <m:r>
                      <a:rPr lang="en-US" sz="3500" b="1" i="1">
                        <a:solidFill>
                          <a:srgbClr val="000000"/>
                        </a:solidFill>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 </m:t>
                    </m:r>
                    <m:r>
                      <a:rPr lang="en-US" sz="3500" b="1" i="1">
                        <a:solidFill>
                          <a:srgbClr val="000000"/>
                        </a:solidFill>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𝝀</m:t>
                    </m:r>
                  </m:oMath>
                </a14:m>
                <a:r>
                  <a:rPr lang="en-US" sz="3500" b="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 =0.824</a:t>
                </a:r>
                <a14:m>
                  <m:oMath xmlns:m="http://schemas.openxmlformats.org/officeDocument/2006/math">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 </m:t>
                    </m:r>
                    <m:sSup>
                      <m:sSupPr>
                        <m:ctrlPr>
                          <a:rPr lang="en-IN"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ctrlPr>
                      </m:sSupPr>
                      <m:e>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𝑨</m:t>
                        </m:r>
                      </m:e>
                      <m:sup>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𝟎</m:t>
                        </m:r>
                      </m:sup>
                    </m:sSup>
                  </m:oMath>
                </a14:m>
                <a:r>
                  <a:rPr lang="en-US" sz="3500" b="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gn="just">
                  <a:lnSpc>
                    <a:spcPct val="120000"/>
                  </a:lnSpc>
                  <a:spcAft>
                    <a:spcPts val="1000"/>
                  </a:spcAft>
                  <a:buFont typeface="+mj-lt"/>
                  <a:buAutoNum type="arabicPeriod"/>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The first order diffraction is found to occur at a glancing angle of 9°. Calculate the wavelength of X-ray and the glancing angle for second order diffraction if the spacing between the adjacent plane is 2.51 Å.</a:t>
                </a:r>
                <a:r>
                  <a:rPr lang="en-US" sz="3500" b="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(Ans: 0.3926 A</a:t>
                </a:r>
                <a:r>
                  <a:rPr lang="en-US" sz="3500" b="1" baseline="30000"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0</a:t>
                </a:r>
                <a:endParaRPr lang="en-US" sz="3500" b="1" baseline="30000" dirty="0">
                  <a:highlight>
                    <a:srgbClr val="FFFF00"/>
                  </a:highligh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20000"/>
                  </a:lnSpc>
                  <a:spcAft>
                    <a:spcPts val="1000"/>
                  </a:spcAft>
                  <a:buFont typeface="+mj-lt"/>
                  <a:buAutoNum type="arabicPeriod"/>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Calculate the Bragg angle if (200) planes of a BCC crystal with lattice parameter 2.814 A</a:t>
                </a:r>
                <a:r>
                  <a:rPr lang="en-US" sz="3500" baseline="3000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 give second order reflection with X-rays of wavelength 0.71 A</a:t>
                </a:r>
                <a:r>
                  <a:rPr lang="en-US" sz="3500" baseline="3000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3500" b="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(Ans:30</a:t>
                </a:r>
                <a:r>
                  <a:rPr lang="en-US" sz="3500" b="1" baseline="30000"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o</a:t>
                </a:r>
                <a:r>
                  <a:rPr lang="en-US" sz="3500" b="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gn="just">
                  <a:lnSpc>
                    <a:spcPct val="120000"/>
                  </a:lnSpc>
                  <a:spcAft>
                    <a:spcPts val="1000"/>
                  </a:spcAft>
                  <a:buFont typeface="+mj-lt"/>
                  <a:buAutoNum type="arabicPeriod"/>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Calculate the maximum order of diffraction if X-rays of wavelength 0.819 A</a:t>
                </a:r>
                <a:r>
                  <a:rPr lang="en-US" sz="3500" baseline="30000" dirty="0">
                    <a:effectLst/>
                    <a:latin typeface="Times New Roman" panose="02020603050405020304" pitchFamily="18" charset="0"/>
                    <a:ea typeface="Calibri" panose="020F0502020204030204" pitchFamily="34" charset="0"/>
                    <a:cs typeface="Times New Roman" panose="02020603050405020304" pitchFamily="18" charset="0"/>
                  </a:rPr>
                  <a:t>0</a:t>
                </a: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 incident on a crystal of lattice spacing 0.282 nm.</a:t>
                </a:r>
                <a:r>
                  <a:rPr lang="en-US" sz="3500" b="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(Ans: </a:t>
                </a:r>
                <a:r>
                  <a:rPr lang="en-US" sz="3500" b="1" dirty="0" err="1">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n</a:t>
                </a:r>
                <a:r>
                  <a:rPr lang="en-US" sz="3500" b="1" baseline="-25000" dirty="0" err="1">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max</a:t>
                </a:r>
                <a:r>
                  <a:rPr lang="en-US" sz="3500" b="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=6)</a:t>
                </a:r>
              </a:p>
              <a:p>
                <a:pPr marL="342900" lvl="0" indent="-342900" algn="just">
                  <a:lnSpc>
                    <a:spcPct val="120000"/>
                  </a:lnSpc>
                  <a:spcAft>
                    <a:spcPts val="1000"/>
                  </a:spcAft>
                  <a:buFont typeface="+mj-lt"/>
                  <a:buAutoNum type="arabicPeriod"/>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Monochromatic high energy X rays are incident on a crystal. If 1</a:t>
                </a:r>
                <a:r>
                  <a:rPr lang="en-US" sz="3500" baseline="30000" dirty="0">
                    <a:effectLst/>
                    <a:latin typeface="Times New Roman" panose="02020603050405020304" pitchFamily="18" charset="0"/>
                    <a:ea typeface="Calibri" panose="020F0502020204030204" pitchFamily="34" charset="0"/>
                    <a:cs typeface="Times New Roman" panose="02020603050405020304" pitchFamily="18" charset="0"/>
                  </a:rPr>
                  <a:t>st</a:t>
                </a: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 order reflection is observed at an angle </a:t>
                </a:r>
                <a14:m>
                  <m:oMath xmlns:m="http://schemas.openxmlformats.org/officeDocument/2006/math">
                    <m:sSup>
                      <m:sSupPr>
                        <m:ctrlPr>
                          <a:rPr lang="en-IN" sz="35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3500" i="1">
                            <a:effectLst/>
                            <a:latin typeface="Cambria Math" panose="02040503050406030204" pitchFamily="18" charset="0"/>
                            <a:ea typeface="Cambria Math" panose="02040503050406030204" pitchFamily="18" charset="0"/>
                            <a:cs typeface="Cambria Math" panose="02040503050406030204" pitchFamily="18" charset="0"/>
                          </a:rPr>
                          <m:t>3.4</m:t>
                        </m:r>
                      </m:e>
                      <m:sup>
                        <m:r>
                          <a:rPr lang="en-US" sz="3500" i="1">
                            <a:effectLst/>
                            <a:latin typeface="Cambria Math" panose="02040503050406030204" pitchFamily="18" charset="0"/>
                            <a:ea typeface="Cambria Math" panose="02040503050406030204" pitchFamily="18" charset="0"/>
                            <a:cs typeface="Cambria Math" panose="02040503050406030204" pitchFamily="18" charset="0"/>
                          </a:rPr>
                          <m:t>0</m:t>
                        </m:r>
                      </m:sup>
                    </m:sSup>
                  </m:oMath>
                </a14:m>
                <a:r>
                  <a:rPr lang="en-US" sz="3500" dirty="0">
                    <a:effectLst/>
                    <a:latin typeface="Times New Roman" panose="02020603050405020304" pitchFamily="18" charset="0"/>
                    <a:ea typeface="Calibri" panose="020F0502020204030204" pitchFamily="34" charset="0"/>
                    <a:cs typeface="Times New Roman" panose="02020603050405020304" pitchFamily="18" charset="0"/>
                  </a:rPr>
                  <a:t>,at what angle 2</a:t>
                </a:r>
                <a:r>
                  <a:rPr lang="en-US" sz="3500" baseline="30000" dirty="0">
                    <a:effectLst/>
                    <a:latin typeface="Times New Roman" panose="02020603050405020304" pitchFamily="18" charset="0"/>
                    <a:ea typeface="Calibri" panose="020F0502020204030204" pitchFamily="34" charset="0"/>
                    <a:cs typeface="Times New Roman" panose="02020603050405020304" pitchFamily="18" charset="0"/>
                  </a:rPr>
                  <a:t>nd</a:t>
                </a: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  order reflection be expected  ?        </a:t>
                </a:r>
                <a:r>
                  <a:rPr lang="en-US" sz="3500" b="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(Ans:</a:t>
                </a:r>
                <a14:m>
                  <m:oMath xmlns:m="http://schemas.openxmlformats.org/officeDocument/2006/math">
                    <m:sSub>
                      <m:sSubPr>
                        <m:ctrlPr>
                          <a:rPr lang="en-IN"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ctrlPr>
                      </m:sSubPr>
                      <m:e>
                        <m:r>
                          <a:rPr lang="en-US" sz="3500" i="1">
                            <a:effectLst/>
                            <a:latin typeface="Cambria Math" panose="02040503050406030204" pitchFamily="18" charset="0"/>
                            <a:ea typeface="Calibri" panose="020F0502020204030204" pitchFamily="34" charset="0"/>
                          </a:rPr>
                          <m:t>𝜃</m:t>
                        </m:r>
                      </m:e>
                      <m:sub>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𝟐</m:t>
                        </m:r>
                      </m:sub>
                    </m:sSub>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m:t>
                    </m:r>
                    <m:sSup>
                      <m:sSupPr>
                        <m:ctrlPr>
                          <a:rPr lang="en-IN"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ctrlPr>
                      </m:sSupPr>
                      <m:e>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𝟔</m:t>
                        </m:r>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m:t>
                        </m:r>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𝟖𝟏</m:t>
                        </m:r>
                      </m:e>
                      <m:sup>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𝟎</m:t>
                        </m:r>
                      </m:sup>
                    </m:sSup>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m:t>
                    </m:r>
                  </m:oMath>
                </a14:m>
                <a:endParaRPr lang="en-IN" sz="3500" b="1" dirty="0">
                  <a:effectLst/>
                  <a:highlight>
                    <a:srgbClr val="FFFF00"/>
                  </a:highlight>
                  <a:latin typeface="Times New Roman" panose="02020603050405020304" pitchFamily="18" charset="0"/>
                  <a:ea typeface="Cambria Math" panose="02040503050406030204" pitchFamily="18" charset="0"/>
                  <a:cs typeface="Times New Roman" panose="02020603050405020304" pitchFamily="18" charset="0"/>
                </a:endParaRPr>
              </a:p>
              <a:p>
                <a:pPr marL="342900" lvl="0" indent="-342900" algn="just">
                  <a:lnSpc>
                    <a:spcPct val="120000"/>
                  </a:lnSpc>
                  <a:spcAft>
                    <a:spcPts val="1000"/>
                  </a:spcAft>
                  <a:buFont typeface="+mj-lt"/>
                  <a:buAutoNum type="arabicPeriod"/>
                </a:pPr>
                <a:r>
                  <a:rPr lang="en-US" sz="3500" dirty="0">
                    <a:effectLst/>
                    <a:latin typeface="Times New Roman" panose="02020603050405020304" pitchFamily="18" charset="0"/>
                    <a:ea typeface="Calibri" panose="020F0502020204030204" pitchFamily="34" charset="0"/>
                    <a:cs typeface="Times New Roman" panose="02020603050405020304" pitchFamily="18" charset="0"/>
                  </a:rPr>
                  <a:t>Calculate Bragg angle if (200) planes of a BCC crystal with lattice parameter 2.814</a:t>
                </a:r>
                <a14:m>
                  <m:oMath xmlns:m="http://schemas.openxmlformats.org/officeDocument/2006/math">
                    <m:sSup>
                      <m:sSupPr>
                        <m:ctrlPr>
                          <a:rPr lang="en-IN" sz="35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3500" i="1">
                            <a:effectLst/>
                            <a:latin typeface="Cambria Math" panose="02040503050406030204" pitchFamily="18" charset="0"/>
                            <a:ea typeface="Cambria Math" panose="02040503050406030204" pitchFamily="18" charset="0"/>
                            <a:cs typeface="Cambria Math" panose="02040503050406030204" pitchFamily="18" charset="0"/>
                          </a:rPr>
                          <m:t>𝐴</m:t>
                        </m:r>
                      </m:e>
                      <m:sup>
                        <m:r>
                          <a:rPr lang="en-US" sz="3500" i="1">
                            <a:effectLst/>
                            <a:latin typeface="Cambria Math" panose="02040503050406030204" pitchFamily="18" charset="0"/>
                            <a:ea typeface="Cambria Math" panose="02040503050406030204" pitchFamily="18" charset="0"/>
                            <a:cs typeface="Cambria Math" panose="02040503050406030204" pitchFamily="18" charset="0"/>
                          </a:rPr>
                          <m:t>0</m:t>
                        </m:r>
                      </m:sup>
                    </m:sSup>
                  </m:oMath>
                </a14:m>
                <a:r>
                  <a:rPr lang="en-US" sz="3500" dirty="0">
                    <a:effectLst/>
                    <a:latin typeface="Times New Roman" panose="02020603050405020304" pitchFamily="18" charset="0"/>
                    <a:ea typeface="Calibri" panose="020F0502020204030204" pitchFamily="34" charset="0"/>
                    <a:cs typeface="Times New Roman" panose="02020603050405020304" pitchFamily="18" charset="0"/>
                  </a:rPr>
                  <a:t> give second order reflection with X rays of wavelength 0.71</a:t>
                </a:r>
                <a14:m>
                  <m:oMath xmlns:m="http://schemas.openxmlformats.org/officeDocument/2006/math">
                    <m:sSup>
                      <m:sSupPr>
                        <m:ctrlPr>
                          <a:rPr lang="en-IN" sz="35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3500" i="1">
                            <a:effectLst/>
                            <a:latin typeface="Cambria Math" panose="02040503050406030204" pitchFamily="18" charset="0"/>
                            <a:ea typeface="Cambria Math" panose="02040503050406030204" pitchFamily="18" charset="0"/>
                            <a:cs typeface="Cambria Math" panose="02040503050406030204" pitchFamily="18" charset="0"/>
                          </a:rPr>
                          <m:t>𝐴</m:t>
                        </m:r>
                      </m:e>
                      <m:sup>
                        <m:r>
                          <a:rPr lang="en-US" sz="3500" i="1">
                            <a:effectLst/>
                            <a:latin typeface="Cambria Math" panose="02040503050406030204" pitchFamily="18" charset="0"/>
                            <a:ea typeface="Cambria Math" panose="02040503050406030204" pitchFamily="18" charset="0"/>
                            <a:cs typeface="Cambria Math" panose="02040503050406030204" pitchFamily="18" charset="0"/>
                          </a:rPr>
                          <m:t>0</m:t>
                        </m:r>
                      </m:sup>
                    </m:sSup>
                  </m:oMath>
                </a14:m>
                <a:r>
                  <a:rPr lang="en-US" sz="3500" b="1" dirty="0">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(Ans:</a:t>
                </a:r>
                <a14:m>
                  <m:oMath xmlns:m="http://schemas.openxmlformats.org/officeDocument/2006/math">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𝜽</m:t>
                    </m:r>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m:t>
                    </m:r>
                    <m:sSup>
                      <m:sSupPr>
                        <m:ctrlPr>
                          <a:rPr lang="en-IN"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ctrlPr>
                      </m:sSupPr>
                      <m:e>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𝟑𝟎</m:t>
                        </m:r>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m:t>
                        </m:r>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𝟑𝟎</m:t>
                        </m:r>
                      </m:e>
                      <m:sup>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𝟎</m:t>
                        </m:r>
                      </m:sup>
                    </m:sSup>
                    <m:r>
                      <a:rPr lang="en-US" sz="3500" b="1" i="1">
                        <a:effectLst/>
                        <a:highlight>
                          <a:srgbClr val="FFFF00"/>
                        </a:highlight>
                        <a:latin typeface="Cambria Math" panose="02040503050406030204" pitchFamily="18" charset="0"/>
                        <a:ea typeface="Cambria Math" panose="02040503050406030204" pitchFamily="18" charset="0"/>
                        <a:cs typeface="Cambria Math" panose="02040503050406030204" pitchFamily="18" charset="0"/>
                      </a:rPr>
                      <m:t>)</m:t>
                    </m:r>
                  </m:oMath>
                </a14:m>
                <a:endParaRPr lang="en-IN" sz="35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mj-lt"/>
                  <a:buAutoNum type="arabicPeriod"/>
                </a:pPr>
                <a:endParaRPr lang="en-IN" sz="2200" dirty="0">
                  <a:effectLs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IN" sz="2200" dirty="0">
                  <a:effectLs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IN" sz="1800" dirty="0">
                  <a:effectLs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IN" sz="1800" dirty="0">
                  <a:effectLs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IN" sz="1800" dirty="0">
                  <a:effectLs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US" sz="1800" b="1" dirty="0">
                  <a:effectLst/>
                  <a:highlight>
                    <a:srgbClr val="FFFF00"/>
                  </a:highligh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IN" sz="1800" dirty="0">
                  <a:effectLs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IN" sz="1800" dirty="0">
                  <a:effectLs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IN" sz="1800" dirty="0">
                  <a:effectLs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IN" sz="1800" dirty="0">
                  <a:effectLst/>
                  <a:latin typeface="Calibri" panose="020F0502020204030204" pitchFamily="34" charset="0"/>
                  <a:ea typeface="Calibri" panose="020F0502020204030204" pitchFamily="34" charset="0"/>
                </a:endParaRPr>
              </a:p>
              <a:p>
                <a:pPr marL="342900" lvl="0" indent="-342900" algn="just">
                  <a:lnSpc>
                    <a:spcPct val="150000"/>
                  </a:lnSpc>
                  <a:spcAft>
                    <a:spcPts val="1000"/>
                  </a:spcAft>
                  <a:buFont typeface="+mj-lt"/>
                  <a:buAutoNum type="arabicPeriod"/>
                </a:pPr>
                <a:endParaRPr lang="en-IN" sz="1800" dirty="0">
                  <a:effectLst/>
                  <a:latin typeface="Calibri" panose="020F0502020204030204" pitchFamily="34" charset="0"/>
                  <a:ea typeface="Calibri" panose="020F0502020204030204" pitchFamily="34" charset="0"/>
                </a:endParaRPr>
              </a:p>
              <a:p>
                <a:pPr marL="514350" indent="-514350">
                  <a:buFont typeface="+mj-lt"/>
                  <a:buAutoNum type="arabicPeriod"/>
                </a:pPr>
                <a:endParaRPr lang="en-IN" dirty="0"/>
              </a:p>
            </p:txBody>
          </p:sp>
        </mc:Choice>
        <mc:Fallback>
          <p:sp>
            <p:nvSpPr>
              <p:cNvPr id="3" name="Content Placeholder 2">
                <a:extLst>
                  <a:ext uri="{FF2B5EF4-FFF2-40B4-BE49-F238E27FC236}">
                    <a16:creationId xmlns:a16="http://schemas.microsoft.com/office/drawing/2014/main" id="{74EF35F8-A032-404F-8EAE-2C98CF82719E}"/>
                  </a:ext>
                </a:extLst>
              </p:cNvPr>
              <p:cNvSpPr>
                <a:spLocks noGrp="1" noRot="1" noChangeAspect="1" noMove="1" noResize="1" noEditPoints="1" noAdjustHandles="1" noChangeArrowheads="1" noChangeShapeType="1" noTextEdit="1"/>
              </p:cNvSpPr>
              <p:nvPr>
                <p:ph idx="1"/>
              </p:nvPr>
            </p:nvSpPr>
            <p:spPr>
              <a:xfrm>
                <a:off x="0" y="0"/>
                <a:ext cx="12191999" cy="6857999"/>
              </a:xfrm>
              <a:blipFill>
                <a:blip r:embed="rId2"/>
                <a:stretch>
                  <a:fillRect l="-50" t="-178" r="-150"/>
                </a:stretch>
              </a:blipFill>
            </p:spPr>
            <p:txBody>
              <a:bodyPr/>
              <a:lstStyle/>
              <a:p>
                <a:r>
                  <a:rPr lang="en-IN">
                    <a:noFill/>
                  </a:rPr>
                  <a:t> </a:t>
                </a:r>
              </a:p>
            </p:txBody>
          </p:sp>
        </mc:Fallback>
      </mc:AlternateContent>
    </p:spTree>
    <p:extLst>
      <p:ext uri="{BB962C8B-B14F-4D97-AF65-F5344CB8AC3E}">
        <p14:creationId xmlns:p14="http://schemas.microsoft.com/office/powerpoint/2010/main" val="41089940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1975</Words>
  <Application>Microsoft Office PowerPoint</Application>
  <PresentationFormat>Widescreen</PresentationFormat>
  <Paragraphs>138</Paragraphs>
  <Slides>12</Slides>
  <Notes>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Cambria</vt:lpstr>
      <vt:lpstr>Cambria Math</vt:lpstr>
      <vt:lpstr>Times New Roman</vt:lpstr>
      <vt:lpstr>Office Theme</vt:lpstr>
      <vt:lpstr>Q1. Silver has FCC structure and its atomic radius is 1.414 A0. Find the interplanar spacing of the (200) and (111) planes. </vt:lpstr>
      <vt:lpstr>Q2. Cu has FCC structure. If the interplanar spacing for the set of (111) planes is 2.80A0, find the density and the diameter of the cu atom. The atomic weight of cu is 63.54. </vt:lpstr>
      <vt:lpstr>Q3.If the X ray of wavelength 〖1.549A〗^0  will be reflected from the crystal with interplanar spacing  4.255 A^0.Calculate the smallest glancing angle and the highest order of reflection that can be observe </vt:lpstr>
      <vt:lpstr>Q4.In comparing the wavelengths of two monochromatic X-ray lines it is found that line A gives 1st order Bragg's maximum at a glancing angle of 30° to the smooth face of a crystal. Line B of known wavelength of 0.97 A° gives 3rd order reflection maximum at a glancing angle of 60° with the same face of the crystal. Find the wavelength of line A. </vt:lpstr>
      <vt:lpstr>Q5.In NaCl crystal, the spacing between the successive (100) plane is 2.82 Ao. X-ray incident on the surface of the crystal is found to give rise to first order Bragg reflection at glancing angle 8.8°. Calculate the wavelength of X-ray. </vt:lpstr>
      <vt:lpstr>  Q6.Monochromatic X-ray beam of wavelength A 5.8189 Å is reflected strongly for glancing angle of 0 75.86° in the first order by certain planes of cubic crystal of lattice constant 3 Ao. Determine Miller indices of the possible reflecting planes. </vt:lpstr>
      <vt:lpstr>Q7.Monochromatic high energy X-rays are incident on a crystal. If first order reflection is observed at an angle 3.4° at what angle would second order reflection be expected?   </vt:lpstr>
      <vt:lpstr>Q8.Calculate the glancing angle on the (100) plane of rock salt crystal with lattice constant 2.125A^0.Given the wavelength of the incident X ray is 0.592A^0 and this is a case of 2nd order maximum </vt:lpstr>
      <vt:lpstr>Q9.Calculate the wavelength of the X ray beam that suffers first order Bragg reflection at a glancing angle 8^0 35^′ from a NaCl crystal with the lattice spacing of 0.282nm. Also calculate the maximum order of diffraction possible. </vt:lpstr>
      <vt:lpstr>Q10.The first order X ray diffraction occurs at a glancing angle of  〖9.6〗^0from the (110) planes of a calcite crystal. If the lattice constant  of the calcite is 〖3.036A〗^0,calculate the wavelength of x ray.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Q3. Silver has FCC structure and its atomic radius is 1.414 A0. Find the interplanar spacing of the (200) and (111) planes. </dc:title>
  <dc:creator>Linesh Patil</dc:creator>
  <cp:lastModifiedBy>Linesh Patil</cp:lastModifiedBy>
  <cp:revision>6</cp:revision>
  <dcterms:created xsi:type="dcterms:W3CDTF">2021-02-10T11:05:16Z</dcterms:created>
  <dcterms:modified xsi:type="dcterms:W3CDTF">2021-02-10T11:50:15Z</dcterms:modified>
</cp:coreProperties>
</file>